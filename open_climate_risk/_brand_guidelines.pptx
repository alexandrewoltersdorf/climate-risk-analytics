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2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0" y="1645920"/>
            <a:ext cx="2926080" cy="2926080"/>
          </a:xfrm>
          <a:prstGeom prst="ellipse">
            <a:avLst/>
          </a:prstGeom>
          <a:noFill/>
          <a:ln w="50800">
            <a:solidFill>
              <a:srgbClr val="252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27555" y="2011680"/>
            <a:ext cx="2048255" cy="2048255"/>
          </a:xfrm>
          <a:prstGeom prst="ellipse">
            <a:avLst/>
          </a:prstGeom>
          <a:noFill/>
          <a:ln w="40640">
            <a:solidFill>
              <a:srgbClr val="252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542032" y="2670048"/>
            <a:ext cx="1024127" cy="1024127"/>
          </a:xfrm>
          <a:prstGeom prst="ellipse">
            <a:avLst/>
          </a:prstGeom>
          <a:noFill/>
          <a:ln w="30480">
            <a:solidFill>
              <a:srgbClr val="252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900476" y="3072384"/>
            <a:ext cx="219456" cy="219456"/>
          </a:xfrm>
          <a:prstGeom prst="ellipse">
            <a:avLst/>
          </a:prstGeom>
          <a:solidFill>
            <a:srgbClr val="252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0288" y="2084832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100" b="1">
                <a:solidFill>
                  <a:srgbClr val="18181B"/>
                </a:solidFill>
                <a:latin typeface="Calibri"/>
              </a:defRPr>
            </a:pPr>
            <a:r>
              <a:t>open climate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90288" y="520259108832"/>
            <a:ext cx="7315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6E6E7A"/>
                </a:solidFill>
                <a:latin typeface="Calibri Light"/>
              </a:defRPr>
            </a:pPr>
            <a:r>
              <a:t>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754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6E6E7A"/>
                </a:solidFill>
                <a:latin typeface="Calibri Light"/>
              </a:defRPr>
            </a:pPr>
            <a:r>
              <a:t>Brand Guidelines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303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8A8B2"/>
                </a:solidFill>
                <a:latin typeface="Calibri Light"/>
              </a:defRPr>
            </a:pPr>
            <a:r>
              <a:t>Version 1.0  —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8A8B2"/>
                </a:solidFill>
                <a:latin typeface="Calibri Light"/>
              </a:defRPr>
            </a:pPr>
            <a:r>
              <a:t>Open Climate Risk — Brand Guidelines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63640"/>
            <a:ext cx="11064240" cy="9525"/>
          </a:xfrm>
          <a:prstGeom prst="rect">
            <a:avLst/>
          </a:prstGeom>
          <a:solidFill>
            <a:srgbClr val="D4D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8181B"/>
                </a:solidFill>
                <a:latin typeface="Calibri"/>
              </a:defRPr>
            </a:pPr>
            <a:r>
              <a:t>Logo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371600" cy="38100"/>
          </a:xfrm>
          <a:prstGeom prst="rect">
            <a:avLst/>
          </a:prstGeom>
          <a:solidFill>
            <a:srgbClr val="252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7A"/>
                </a:solidFill>
                <a:latin typeface="Calibri Light"/>
              </a:defRPr>
            </a:pPr>
            <a:r>
              <a:t>The logo consists of three concentric contour rings with an offset center,</a:t>
            </a:r>
          </a:p>
          <a:p>
            <a:pPr algn="l">
              <a:defRPr sz="1300" b="0">
                <a:solidFill>
                  <a:srgbClr val="6E6E7A"/>
                </a:solidFill>
                <a:latin typeface="Calibri Light"/>
              </a:defRPr>
            </a:pPr>
            <a:r>
              <a:t>evoking topographic mapping, climate data layers, and risk assessment.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502920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" y="2377440"/>
            <a:ext cx="2377440" cy="2377440"/>
          </a:xfrm>
          <a:prstGeom prst="ellipse">
            <a:avLst/>
          </a:prstGeom>
          <a:noFill/>
          <a:ln w="41275">
            <a:solidFill>
              <a:srgbClr val="252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48993" y="2674620"/>
            <a:ext cx="1664207" cy="1664207"/>
          </a:xfrm>
          <a:prstGeom prst="ellipse">
            <a:avLst/>
          </a:prstGeom>
          <a:noFill/>
          <a:ln w="33020">
            <a:solidFill>
              <a:srgbClr val="252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048255" y="3209544"/>
            <a:ext cx="832103" cy="832103"/>
          </a:xfrm>
          <a:prstGeom prst="ellipse">
            <a:avLst/>
          </a:prstGeom>
          <a:noFill/>
          <a:ln w="24765">
            <a:solidFill>
              <a:srgbClr val="252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339492" y="3536442"/>
            <a:ext cx="178308" cy="178308"/>
          </a:xfrm>
          <a:prstGeom prst="ellipse">
            <a:avLst/>
          </a:prstGeom>
          <a:solidFill>
            <a:srgbClr val="252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734056"/>
            <a:ext cx="5943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300" b="1">
                <a:solidFill>
                  <a:srgbClr val="18181B"/>
                </a:solidFill>
                <a:latin typeface="Calibri"/>
              </a:defRPr>
            </a:pPr>
            <a:r>
              <a:t>open climate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422711566056"/>
            <a:ext cx="5943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E6E7A"/>
                </a:solidFill>
                <a:latin typeface="Calibri Light"/>
              </a:defRPr>
            </a:pPr>
            <a:r>
              <a:t>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7373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8181B"/>
                </a:solidFill>
                <a:latin typeface="Calibri"/>
              </a:defRPr>
            </a:pPr>
            <a:r>
              <a:t>Construction</a:t>
            </a:r>
          </a:p>
        </p:txBody>
      </p:sp>
      <p:sp>
        <p:nvSpPr>
          <p:cNvPr id="15" name="Oval 14"/>
          <p:cNvSpPr/>
          <p:nvPr/>
        </p:nvSpPr>
        <p:spPr>
          <a:xfrm>
            <a:off x="6035040" y="2249424"/>
            <a:ext cx="109728" cy="109728"/>
          </a:xfrm>
          <a:prstGeom prst="ellipse">
            <a:avLst/>
          </a:prstGeom>
          <a:solidFill>
            <a:srgbClr val="252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21945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8181B"/>
                </a:solidFill>
                <a:latin typeface="Calibri Light"/>
              </a:defRPr>
            </a:pPr>
            <a:r>
              <a:t>Three concentric ellipses (contour rings)</a:t>
            </a:r>
          </a:p>
        </p:txBody>
      </p:sp>
      <p:sp>
        <p:nvSpPr>
          <p:cNvPr id="17" name="Oval 16"/>
          <p:cNvSpPr/>
          <p:nvPr/>
        </p:nvSpPr>
        <p:spPr>
          <a:xfrm>
            <a:off x="6035040" y="2569464"/>
            <a:ext cx="109728" cy="109728"/>
          </a:xfrm>
          <a:prstGeom prst="ellipse">
            <a:avLst/>
          </a:prstGeom>
          <a:solidFill>
            <a:srgbClr val="252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25146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8181B"/>
                </a:solidFill>
                <a:latin typeface="Calibri Light"/>
              </a:defRPr>
            </a:pPr>
            <a:r>
              <a:t>Progressive offset: inner rings shifted right+down</a:t>
            </a:r>
          </a:p>
        </p:txBody>
      </p:sp>
      <p:sp>
        <p:nvSpPr>
          <p:cNvPr id="19" name="Oval 18"/>
          <p:cNvSpPr/>
          <p:nvPr/>
        </p:nvSpPr>
        <p:spPr>
          <a:xfrm>
            <a:off x="6035040" y="2889503"/>
            <a:ext cx="109728" cy="109728"/>
          </a:xfrm>
          <a:prstGeom prst="ellipse">
            <a:avLst/>
          </a:prstGeom>
          <a:solidFill>
            <a:srgbClr val="252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283463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8181B"/>
                </a:solidFill>
                <a:latin typeface="Calibri Light"/>
              </a:defRPr>
            </a:pPr>
            <a:r>
              <a:t>Solid center dot marks the "asset" / focal point</a:t>
            </a:r>
          </a:p>
        </p:txBody>
      </p:sp>
      <p:sp>
        <p:nvSpPr>
          <p:cNvPr id="21" name="Oval 20"/>
          <p:cNvSpPr/>
          <p:nvPr/>
        </p:nvSpPr>
        <p:spPr>
          <a:xfrm>
            <a:off x="6035040" y="3209544"/>
            <a:ext cx="109728" cy="109728"/>
          </a:xfrm>
          <a:prstGeom prst="ellipse">
            <a:avLst/>
          </a:prstGeom>
          <a:solidFill>
            <a:srgbClr val="252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31546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8181B"/>
                </a:solidFill>
                <a:latin typeface="Calibri Light"/>
              </a:defRPr>
            </a:pPr>
            <a:r>
              <a:t>Represents: layers of climate data, risk contours</a:t>
            </a:r>
          </a:p>
        </p:txBody>
      </p:sp>
      <p:sp>
        <p:nvSpPr>
          <p:cNvPr id="23" name="Oval 22"/>
          <p:cNvSpPr/>
          <p:nvPr/>
        </p:nvSpPr>
        <p:spPr>
          <a:xfrm>
            <a:off x="6035040" y="3529584"/>
            <a:ext cx="109728" cy="109728"/>
          </a:xfrm>
          <a:prstGeom prst="ellipse">
            <a:avLst/>
          </a:prstGeom>
          <a:solidFill>
            <a:srgbClr val="252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34747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8181B"/>
                </a:solidFill>
                <a:latin typeface="Calibri Light"/>
              </a:defRPr>
            </a:pPr>
            <a:r>
              <a:t>Visual metaphor: topographic lines, storm tracks, flood extent</a:t>
            </a:r>
          </a:p>
        </p:txBody>
      </p:sp>
      <p:sp>
        <p:nvSpPr>
          <p:cNvPr id="25" name="Oval 24"/>
          <p:cNvSpPr/>
          <p:nvPr/>
        </p:nvSpPr>
        <p:spPr>
          <a:xfrm>
            <a:off x="6035040" y="3849624"/>
            <a:ext cx="109728" cy="109728"/>
          </a:xfrm>
          <a:prstGeom prst="ellipse">
            <a:avLst/>
          </a:prstGeom>
          <a:solidFill>
            <a:srgbClr val="252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37947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8181B"/>
                </a:solidFill>
                <a:latin typeface="Calibri Light"/>
              </a:defRPr>
            </a:pPr>
            <a:r>
              <a:t>Wordmark: "open climate risk" in Calibri Bold</a:t>
            </a:r>
          </a:p>
        </p:txBody>
      </p:sp>
      <p:sp>
        <p:nvSpPr>
          <p:cNvPr id="27" name="Oval 26"/>
          <p:cNvSpPr/>
          <p:nvPr/>
        </p:nvSpPr>
        <p:spPr>
          <a:xfrm>
            <a:off x="6035040" y="4169663"/>
            <a:ext cx="109728" cy="109728"/>
          </a:xfrm>
          <a:prstGeom prst="ellipse">
            <a:avLst/>
          </a:prstGeom>
          <a:solidFill>
            <a:srgbClr val="252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41148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8181B"/>
                </a:solidFill>
                <a:latin typeface="Calibri Light"/>
              </a:defRPr>
            </a:pPr>
            <a:r>
              <a:t>"platform" in Calibri Light, secondary grey</a:t>
            </a:r>
          </a:p>
        </p:txBody>
      </p:sp>
      <p:sp>
        <p:nvSpPr>
          <p:cNvPr id="29" name="Oval 28"/>
          <p:cNvSpPr/>
          <p:nvPr/>
        </p:nvSpPr>
        <p:spPr>
          <a:xfrm>
            <a:off x="6035040" y="4489703"/>
            <a:ext cx="109728" cy="109728"/>
          </a:xfrm>
          <a:prstGeom prst="ellipse">
            <a:avLst/>
          </a:prstGeom>
          <a:solidFill>
            <a:srgbClr val="252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44348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8181B"/>
                </a:solidFill>
                <a:latin typeface="Calibri Light"/>
              </a:defRPr>
            </a:pPr>
            <a:r>
              <a:t>Logo + wordmark always used together in formal contexts</a:t>
            </a:r>
          </a:p>
        </p:txBody>
      </p:sp>
      <p:sp>
        <p:nvSpPr>
          <p:cNvPr id="31" name="Oval 30"/>
          <p:cNvSpPr/>
          <p:nvPr/>
        </p:nvSpPr>
        <p:spPr>
          <a:xfrm>
            <a:off x="6035040" y="4809743"/>
            <a:ext cx="109728" cy="109728"/>
          </a:xfrm>
          <a:prstGeom prst="ellipse">
            <a:avLst/>
          </a:prstGeom>
          <a:solidFill>
            <a:srgbClr val="252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47548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8181B"/>
                </a:solidFill>
                <a:latin typeface="Calibri Light"/>
              </a:defRPr>
            </a:pPr>
            <a:r>
              <a:t>Icon (rings only) acceptable for small sizes / favicons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8A8B2"/>
                </a:solidFill>
                <a:latin typeface="Calibri Light"/>
              </a:defRPr>
            </a:pPr>
            <a:r>
              <a:t>Open Climate Risk — Brand Guidelines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63640"/>
            <a:ext cx="11064240" cy="9525"/>
          </a:xfrm>
          <a:prstGeom prst="rect">
            <a:avLst/>
          </a:prstGeom>
          <a:solidFill>
            <a:srgbClr val="D4D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8181B"/>
                </a:solidFill>
                <a:latin typeface="Calibri"/>
              </a:defRPr>
            </a:pPr>
            <a:r>
              <a:t>Logo Variations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371600" cy="38100"/>
          </a:xfrm>
          <a:prstGeom prst="rect">
            <a:avLst/>
          </a:prstGeom>
          <a:solidFill>
            <a:srgbClr val="252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7A"/>
                </a:solidFill>
                <a:latin typeface="Calibri Light"/>
              </a:defRPr>
            </a:pPr>
            <a:r>
              <a:t>Primary — on white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30352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1645919"/>
            <a:ext cx="1554480" cy="1554480"/>
          </a:xfrm>
          <a:prstGeom prst="ellipse">
            <a:avLst/>
          </a:prstGeom>
          <a:noFill/>
          <a:ln w="26987">
            <a:solidFill>
              <a:srgbClr val="252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09751" y="1840229"/>
            <a:ext cx="1088136" cy="1088136"/>
          </a:xfrm>
          <a:prstGeom prst="ellipse">
            <a:avLst/>
          </a:prstGeom>
          <a:noFill/>
          <a:ln w="21590">
            <a:solidFill>
              <a:srgbClr val="252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536192" y="2189988"/>
            <a:ext cx="544068" cy="544068"/>
          </a:xfrm>
          <a:prstGeom prst="ellipse">
            <a:avLst/>
          </a:prstGeom>
          <a:noFill/>
          <a:ln w="16192">
            <a:solidFill>
              <a:srgbClr val="252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726615" y="2403728"/>
            <a:ext cx="116586" cy="116586"/>
          </a:xfrm>
          <a:prstGeom prst="ellipse">
            <a:avLst/>
          </a:prstGeom>
          <a:solidFill>
            <a:srgbClr val="252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24328" y="1879092"/>
            <a:ext cx="3886200" cy="388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8181B"/>
                </a:solidFill>
                <a:latin typeface="Calibri"/>
              </a:defRPr>
            </a:pPr>
            <a:r>
              <a:t>open climate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24328" y="276388423092"/>
            <a:ext cx="3886200" cy="233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7A"/>
                </a:solidFill>
                <a:latin typeface="Calibri Light"/>
              </a:defRPr>
            </a:pPr>
            <a:r>
              <a:t>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097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7A"/>
                </a:solidFill>
                <a:latin typeface="Calibri Light"/>
              </a:defRPr>
            </a:pPr>
            <a:r>
              <a:t>Reversed — on blue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371600"/>
            <a:ext cx="5303520" cy="2011680"/>
          </a:xfrm>
          <a:prstGeom prst="roundRect">
            <a:avLst/>
          </a:prstGeom>
          <a:solidFill>
            <a:srgbClr val="252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83680" y="1645919"/>
            <a:ext cx="1554480" cy="1554480"/>
          </a:xfrm>
          <a:prstGeom prst="ellipse">
            <a:avLst/>
          </a:prstGeom>
          <a:noFill/>
          <a:ln w="26987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79031" y="1840229"/>
            <a:ext cx="1088136" cy="1088136"/>
          </a:xfrm>
          <a:prstGeom prst="ellipse">
            <a:avLst/>
          </a:prstGeom>
          <a:noFill/>
          <a:ln w="215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205472" y="2189988"/>
            <a:ext cx="544068" cy="544068"/>
          </a:xfrm>
          <a:prstGeom prst="ellipse">
            <a:avLst/>
          </a:prstGeom>
          <a:noFill/>
          <a:ln w="16192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395895" y="2403728"/>
            <a:ext cx="116586" cy="11658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3608" y="1879092"/>
            <a:ext cx="3886200" cy="388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open climate 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3608" y="276388423092"/>
            <a:ext cx="3886200" cy="233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E9EFF"/>
                </a:solidFill>
                <a:latin typeface="Calibri Light"/>
              </a:defRPr>
            </a:pPr>
            <a:r>
              <a:t>platform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657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7A"/>
                </a:solidFill>
                <a:latin typeface="Calibri Light"/>
              </a:defRPr>
            </a:pPr>
            <a:r>
              <a:t>On dark background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931920"/>
            <a:ext cx="5303520" cy="2011680"/>
          </a:xfrm>
          <a:prstGeom prst="roundRect">
            <a:avLst/>
          </a:prstGeom>
          <a:solidFill>
            <a:srgbClr val="12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06240"/>
            <a:ext cx="1554480" cy="1554480"/>
          </a:xfrm>
          <a:prstGeom prst="ellipse">
            <a:avLst/>
          </a:prstGeom>
          <a:noFill/>
          <a:ln w="26987">
            <a:solidFill>
              <a:srgbClr val="9E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209751" y="4400549"/>
            <a:ext cx="1088136" cy="1088136"/>
          </a:xfrm>
          <a:prstGeom prst="ellipse">
            <a:avLst/>
          </a:prstGeom>
          <a:noFill/>
          <a:ln w="21590">
            <a:solidFill>
              <a:srgbClr val="9E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536192" y="4750307"/>
            <a:ext cx="544068" cy="544068"/>
          </a:xfrm>
          <a:prstGeom prst="ellipse">
            <a:avLst/>
          </a:prstGeom>
          <a:noFill/>
          <a:ln w="16192">
            <a:solidFill>
              <a:srgbClr val="9E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726615" y="4964049"/>
            <a:ext cx="116586" cy="116586"/>
          </a:xfrm>
          <a:prstGeom prst="ellipse">
            <a:avLst/>
          </a:prstGeom>
          <a:solidFill>
            <a:srgbClr val="9E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24328" y="4439412"/>
            <a:ext cx="3886200" cy="388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open climate risk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24328" y="276390983412"/>
            <a:ext cx="3886200" cy="233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E9EFF"/>
                </a:solidFill>
                <a:latin typeface="Calibri Light"/>
              </a:defRPr>
            </a:pPr>
            <a:r>
              <a:t>platform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3657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7A"/>
                </a:solidFill>
                <a:latin typeface="Calibri Light"/>
              </a:defRPr>
            </a:pPr>
            <a:r>
              <a:t>Icon only — small sizes / favicon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3931920"/>
            <a:ext cx="237744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675120" y="4206240"/>
            <a:ext cx="1463040" cy="1463040"/>
          </a:xfrm>
          <a:prstGeom prst="ellipse">
            <a:avLst/>
          </a:prstGeom>
          <a:noFill/>
          <a:ln w="25400">
            <a:solidFill>
              <a:srgbClr val="252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953097" y="4389120"/>
            <a:ext cx="1024127" cy="1024127"/>
          </a:xfrm>
          <a:prstGeom prst="ellipse">
            <a:avLst/>
          </a:prstGeom>
          <a:noFill/>
          <a:ln w="20320">
            <a:solidFill>
              <a:srgbClr val="252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260336" y="4718304"/>
            <a:ext cx="512063" cy="512063"/>
          </a:xfrm>
          <a:prstGeom prst="ellipse">
            <a:avLst/>
          </a:prstGeom>
          <a:noFill/>
          <a:ln w="15240">
            <a:solidFill>
              <a:srgbClr val="252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439558" y="4919472"/>
            <a:ext cx="109728" cy="109728"/>
          </a:xfrm>
          <a:prstGeom prst="ellipse">
            <a:avLst/>
          </a:prstGeom>
          <a:solidFill>
            <a:srgbClr val="252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961120" y="3931920"/>
            <a:ext cx="2377440" cy="2011680"/>
          </a:xfrm>
          <a:prstGeom prst="roundRect">
            <a:avLst/>
          </a:prstGeom>
          <a:solidFill>
            <a:srgbClr val="252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418319" y="4206240"/>
            <a:ext cx="1463040" cy="1463040"/>
          </a:xfrm>
          <a:prstGeom prst="ellipse">
            <a:avLst/>
          </a:prstGeom>
          <a:noFill/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696297" y="4389120"/>
            <a:ext cx="1024127" cy="1024127"/>
          </a:xfrm>
          <a:prstGeom prst="ellipse">
            <a:avLst/>
          </a:prstGeom>
          <a:noFill/>
          <a:ln w="203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003536" y="4718304"/>
            <a:ext cx="512063" cy="512063"/>
          </a:xfrm>
          <a:prstGeom prst="ellipse">
            <a:avLst/>
          </a:prstGeom>
          <a:noFill/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82758" y="4919472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8A8B2"/>
                </a:solidFill>
                <a:latin typeface="Calibri Light"/>
              </a:defRPr>
            </a:pPr>
            <a:r>
              <a:t>Open Climate Risk — Brand Guidelines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63640"/>
            <a:ext cx="11064240" cy="9525"/>
          </a:xfrm>
          <a:prstGeom prst="rect">
            <a:avLst/>
          </a:prstGeom>
          <a:solidFill>
            <a:srgbClr val="D4D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8181B"/>
                </a:solidFill>
                <a:latin typeface="Calibri"/>
              </a:defRPr>
            </a:pPr>
            <a:r>
              <a:t>Clear Space &amp; Minimum Size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371600" cy="38100"/>
          </a:xfrm>
          <a:prstGeom prst="rect">
            <a:avLst/>
          </a:prstGeom>
          <a:solidFill>
            <a:srgbClr val="252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6E7A"/>
                </a:solidFill>
                <a:latin typeface="Calibri Light"/>
              </a:defRPr>
            </a:pPr>
            <a:r>
              <a:t>Minimum clear space = height of the icon mark on all sides.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640080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" y="2011680"/>
            <a:ext cx="5029200" cy="12700"/>
          </a:xfrm>
          <a:prstGeom prst="rect">
            <a:avLst/>
          </a:prstGeom>
          <a:solidFill>
            <a:srgbClr val="9E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4389120"/>
            <a:ext cx="5029200" cy="12700"/>
          </a:xfrm>
          <a:prstGeom prst="rect">
            <a:avLst/>
          </a:prstGeom>
          <a:solidFill>
            <a:srgbClr val="9E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7280" y="2011680"/>
            <a:ext cx="12700" cy="2377440"/>
          </a:xfrm>
          <a:prstGeom prst="rect">
            <a:avLst/>
          </a:prstGeom>
          <a:solidFill>
            <a:srgbClr val="9E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2011680"/>
            <a:ext cx="12700" cy="2377440"/>
          </a:xfrm>
          <a:prstGeom prst="rect">
            <a:avLst/>
          </a:prstGeom>
          <a:solidFill>
            <a:srgbClr val="9E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45920" y="2286000"/>
            <a:ext cx="1645920" cy="1645920"/>
          </a:xfrm>
          <a:prstGeom prst="ellipse">
            <a:avLst/>
          </a:prstGeom>
          <a:noFill/>
          <a:ln w="28575">
            <a:solidFill>
              <a:srgbClr val="252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958644" y="2491740"/>
            <a:ext cx="1152144" cy="1152144"/>
          </a:xfrm>
          <a:prstGeom prst="ellipse">
            <a:avLst/>
          </a:prstGeom>
          <a:noFill/>
          <a:ln w="22860">
            <a:solidFill>
              <a:srgbClr val="252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304288" y="2862072"/>
            <a:ext cx="576072" cy="576072"/>
          </a:xfrm>
          <a:prstGeom prst="ellipse">
            <a:avLst/>
          </a:prstGeom>
          <a:noFill/>
          <a:ln w="17145">
            <a:solidFill>
              <a:srgbClr val="252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505913" y="3088386"/>
            <a:ext cx="123444" cy="123444"/>
          </a:xfrm>
          <a:prstGeom prst="ellipse">
            <a:avLst/>
          </a:prstGeom>
          <a:solidFill>
            <a:srgbClr val="252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56432" y="2532888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8181B"/>
                </a:solidFill>
                <a:latin typeface="Calibri"/>
              </a:defRPr>
            </a:pPr>
            <a:r>
              <a:t>open climate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6432" y="292647108888"/>
            <a:ext cx="4114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E6E7A"/>
                </a:solidFill>
                <a:latin typeface="Calibri Light"/>
              </a:defRPr>
            </a:pPr>
            <a:r>
              <a:t>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480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E9EFF"/>
                </a:solidFill>
                <a:latin typeface="Calibri Light"/>
              </a:defRPr>
            </a:pPr>
            <a:r>
              <a:t>↑ Clear space zone — no other elements inside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10972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8181B"/>
                </a:solidFill>
                <a:latin typeface="Calibri"/>
              </a:defRPr>
            </a:pPr>
            <a:r>
              <a:t>Minimum sizes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15544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8181B"/>
                </a:solidFill>
                <a:latin typeface="Calibri"/>
              </a:defRPr>
            </a:pPr>
            <a:r>
              <a:t>Full logo (mark + wordmark)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17830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E6E7A"/>
                </a:solidFill>
                <a:latin typeface="Calibri Light"/>
              </a:defRPr>
            </a:pPr>
            <a:r>
              <a:t>120px wide / 30mm print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21945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8181B"/>
                </a:solidFill>
                <a:latin typeface="Calibri"/>
              </a:defRPr>
            </a:pPr>
            <a:r>
              <a:t>Icon only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24231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E6E7A"/>
                </a:solidFill>
                <a:latin typeface="Calibri Light"/>
              </a:defRPr>
            </a:pPr>
            <a:r>
              <a:t>24px / 6mm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2834639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8181B"/>
                </a:solidFill>
                <a:latin typeface="Calibri"/>
              </a:defRPr>
            </a:pPr>
            <a:r>
              <a:t>Favicon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3063239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E6E7A"/>
                </a:solidFill>
                <a:latin typeface="Calibri Light"/>
              </a:defRPr>
            </a:pPr>
            <a:r>
              <a:t>16px × 16px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34747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3946"/>
                </a:solidFill>
                <a:latin typeface="Calibri"/>
              </a:defRPr>
            </a:pPr>
            <a:r>
              <a:t>Don'ts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38404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3946"/>
                </a:solidFill>
                <a:latin typeface="Calibri Light"/>
              </a:defRPr>
            </a:pPr>
            <a:r>
              <a:t>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8404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8181B"/>
                </a:solidFill>
                <a:latin typeface="Calibri Light"/>
              </a:defRPr>
            </a:pPr>
            <a:r>
              <a:t>Do not rotate the logo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416052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3946"/>
                </a:solidFill>
                <a:latin typeface="Calibri Light"/>
              </a:defRPr>
            </a:pPr>
            <a:r>
              <a:t>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41605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8181B"/>
                </a:solidFill>
                <a:latin typeface="Calibri Light"/>
              </a:defRPr>
            </a:pPr>
            <a:r>
              <a:t>Do not stretch or distort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448056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3946"/>
                </a:solidFill>
                <a:latin typeface="Calibri Light"/>
              </a:defRPr>
            </a:pPr>
            <a:r>
              <a:t>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448056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8181B"/>
                </a:solidFill>
                <a:latin typeface="Calibri Light"/>
              </a:defRPr>
            </a:pPr>
            <a:r>
              <a:t>Do not change ring proportions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48006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3946"/>
                </a:solidFill>
                <a:latin typeface="Calibri Light"/>
              </a:defRPr>
            </a:pPr>
            <a:r>
              <a:t>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48006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8181B"/>
                </a:solidFill>
                <a:latin typeface="Calibri Light"/>
              </a:defRPr>
            </a:pPr>
            <a:r>
              <a:t>Do not use brand colors for rings on colored backgrounds without checking contrast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512064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3946"/>
                </a:solidFill>
                <a:latin typeface="Calibri Light"/>
              </a:defRPr>
            </a:pPr>
            <a:r>
              <a:t>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512064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8181B"/>
                </a:solidFill>
                <a:latin typeface="Calibri Light"/>
              </a:defRPr>
            </a:pPr>
            <a:r>
              <a:t>Do not add drop shadows or effects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79" y="54406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3946"/>
                </a:solidFill>
                <a:latin typeface="Calibri Light"/>
              </a:defRPr>
            </a:pPr>
            <a:r>
              <a:t>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54406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8181B"/>
                </a:solidFill>
                <a:latin typeface="Calibri Light"/>
              </a:defRPr>
            </a:pPr>
            <a:r>
              <a:t>Do not place on busy/photo backgrounds without overlay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8A8B2"/>
                </a:solidFill>
                <a:latin typeface="Calibri Light"/>
              </a:defRPr>
            </a:pPr>
            <a:r>
              <a:t>Open Climate Risk — Brand Guidelines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63640"/>
            <a:ext cx="11064240" cy="9525"/>
          </a:xfrm>
          <a:prstGeom prst="rect">
            <a:avLst/>
          </a:prstGeom>
          <a:solidFill>
            <a:srgbClr val="D4D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8181B"/>
                </a:solidFill>
                <a:latin typeface="Calibri"/>
              </a:defRPr>
            </a:pPr>
            <a:r>
              <a:t>Color Palette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371600" cy="38100"/>
          </a:xfrm>
          <a:prstGeom prst="rect">
            <a:avLst/>
          </a:prstGeom>
          <a:solidFill>
            <a:srgbClr val="252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181B"/>
                </a:solidFill>
                <a:latin typeface="Calibri"/>
              </a:defRPr>
            </a:pPr>
            <a:r>
              <a:t>Primary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2560320" cy="1097280"/>
          </a:xfrm>
          <a:prstGeom prst="roundRect">
            <a:avLst/>
          </a:prstGeom>
          <a:solidFill>
            <a:srgbClr val="252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6060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8181B"/>
                </a:solidFill>
                <a:latin typeface="Calibri"/>
              </a:defRPr>
            </a:pPr>
            <a:r>
              <a:t>OCR Blue  #2525FF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803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6E6E7A"/>
                </a:solidFill>
                <a:latin typeface="Calibri Light"/>
              </a:defRPr>
            </a:pPr>
            <a:r>
              <a:t>Primary brand color.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6E6E7A"/>
                </a:solidFill>
                <a:latin typeface="Calibri Light"/>
              </a:defRPr>
            </a:pPr>
            <a:r>
              <a:t>Logo, headings, accents, links.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463040"/>
            <a:ext cx="2560320" cy="1097280"/>
          </a:xfrm>
          <a:prstGeom prst="round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26060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8181B"/>
                </a:solidFill>
                <a:latin typeface="Calibri"/>
              </a:defRPr>
            </a:pPr>
            <a:r>
              <a:t>Dark  #18181B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8803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6E6E7A"/>
                </a:solidFill>
                <a:latin typeface="Calibri Light"/>
              </a:defRPr>
            </a:pPr>
            <a:r>
              <a:t>Body text, titles.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6E6E7A"/>
                </a:solidFill>
                <a:latin typeface="Calibri Light"/>
              </a:defRPr>
            </a:pPr>
            <a:r>
              <a:t>High contrast on light backgrounds.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63040"/>
            <a:ext cx="2560320" cy="1097280"/>
          </a:xfrm>
          <a:prstGeom prst="roundRect">
            <a:avLst/>
          </a:prstGeom>
          <a:solidFill>
            <a:srgbClr val="EDEDF0"/>
          </a:solidFill>
          <a:ln w="12700">
            <a:solidFill>
              <a:srgbClr val="D4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6060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8181B"/>
                </a:solidFill>
                <a:latin typeface="Calibri"/>
              </a:defRPr>
            </a:pPr>
            <a:r>
              <a:t>Background  #EDEDF0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8803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6E6E7A"/>
                </a:solidFill>
                <a:latin typeface="Calibri Light"/>
              </a:defRPr>
            </a:pPr>
            <a:r>
              <a:t>Slide backgrounds, cards.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6E6E7A"/>
                </a:solidFill>
                <a:latin typeface="Calibri Light"/>
              </a:defRPr>
            </a:pPr>
            <a:r>
              <a:t>Light, neutral, professional.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1463040"/>
            <a:ext cx="25603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9720" y="26060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8181B"/>
                </a:solidFill>
                <a:latin typeface="Calibri"/>
              </a:defRPr>
            </a:pPr>
            <a:r>
              <a:t>White  #FFFFFF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28803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6E6E7A"/>
                </a:solidFill>
                <a:latin typeface="Calibri Light"/>
              </a:defRPr>
            </a:pPr>
            <a:r>
              <a:t>Cards, content areas.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6E6E7A"/>
                </a:solidFill>
                <a:latin typeface="Calibri Light"/>
              </a:defRPr>
            </a:pPr>
            <a:r>
              <a:t>Clean negative space.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566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181B"/>
                </a:solidFill>
                <a:latin typeface="Calibri"/>
              </a:defRPr>
            </a:pPr>
            <a:r>
              <a:t>Blue tints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931920"/>
            <a:ext cx="2011680" cy="640080"/>
          </a:xfrm>
          <a:prstGeom prst="roundRect">
            <a:avLst/>
          </a:prstGeom>
          <a:solidFill>
            <a:srgbClr val="252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8181B"/>
                </a:solidFill>
                <a:latin typeface="Calibri"/>
              </a:defRPr>
            </a:pPr>
            <a:r>
              <a:t>Blue 100%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89204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7A"/>
                </a:solidFill>
                <a:latin typeface="Consolas"/>
              </a:defRPr>
            </a:pPr>
            <a:r>
              <a:t>#2525FF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34640" y="3931920"/>
            <a:ext cx="2011680" cy="640080"/>
          </a:xfrm>
          <a:prstGeom prst="roundRect">
            <a:avLst/>
          </a:prstGeom>
          <a:solidFill>
            <a:srgbClr val="5E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2608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8181B"/>
                </a:solidFill>
                <a:latin typeface="Calibri"/>
              </a:defRPr>
            </a:pPr>
            <a:r>
              <a:t>Blue 70%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489204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7A"/>
                </a:solidFill>
                <a:latin typeface="Consolas"/>
              </a:defRPr>
            </a:pPr>
            <a:r>
              <a:t>#5E5EFF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20640" y="3931920"/>
            <a:ext cx="2011680" cy="640080"/>
          </a:xfrm>
          <a:prstGeom prst="roundRect">
            <a:avLst/>
          </a:prstGeom>
          <a:solidFill>
            <a:srgbClr val="9E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12079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8181B"/>
                </a:solidFill>
                <a:latin typeface="Calibri"/>
              </a:defRPr>
            </a:pPr>
            <a:r>
              <a:t>Blue 40%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79" y="489204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7A"/>
                </a:solidFill>
                <a:latin typeface="Consolas"/>
              </a:defRPr>
            </a:pPr>
            <a:r>
              <a:t>#9E9EFF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06640" y="3931920"/>
            <a:ext cx="2011680" cy="640080"/>
          </a:xfrm>
          <a:prstGeom prst="roundRect">
            <a:avLst/>
          </a:prstGeom>
          <a:solidFill>
            <a:srgbClr val="D6D6FF"/>
          </a:solidFill>
          <a:ln w="12700">
            <a:solidFill>
              <a:srgbClr val="D4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79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8181B"/>
                </a:solidFill>
                <a:latin typeface="Calibri"/>
              </a:defRPr>
            </a:pPr>
            <a:r>
              <a:t>Blue 15%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489204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7A"/>
                </a:solidFill>
                <a:latin typeface="Consolas"/>
              </a:defRPr>
            </a:pPr>
            <a:r>
              <a:t>#D6D6FF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92640" y="3931920"/>
            <a:ext cx="2011680" cy="640080"/>
          </a:xfrm>
          <a:prstGeom prst="roundRect">
            <a:avLst/>
          </a:prstGeom>
          <a:solidFill>
            <a:srgbClr val="F0F0FF"/>
          </a:solidFill>
          <a:ln w="12700">
            <a:solidFill>
              <a:srgbClr val="D4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8408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8181B"/>
                </a:solidFill>
                <a:latin typeface="Calibri"/>
              </a:defRPr>
            </a:pPr>
            <a:r>
              <a:t>Blue 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489204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7A"/>
                </a:solidFill>
                <a:latin typeface="Consolas"/>
              </a:defRPr>
            </a:pPr>
            <a:r>
              <a:t>#F0F0FF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212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181B"/>
                </a:solidFill>
                <a:latin typeface="Calibri"/>
              </a:defRPr>
            </a:pPr>
            <a:r>
              <a:t>Semantic accents</a:t>
            </a:r>
          </a:p>
        </p:txBody>
      </p:sp>
      <p:sp>
        <p:nvSpPr>
          <p:cNvPr id="36" name="Oval 35"/>
          <p:cNvSpPr/>
          <p:nvPr/>
        </p:nvSpPr>
        <p:spPr>
          <a:xfrm>
            <a:off x="548640" y="5532120"/>
            <a:ext cx="320040" cy="32004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0120" y="553212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8181B"/>
                </a:solidFill>
                <a:latin typeface="Calibri"/>
              </a:defRPr>
            </a:pPr>
            <a:r>
              <a:t>Orange  #FF8C00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574243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6E7A"/>
                </a:solidFill>
                <a:latin typeface="Calibri Light"/>
              </a:defRPr>
            </a:pPr>
            <a:r>
              <a:t>Warnings, secondary highlights</a:t>
            </a:r>
          </a:p>
        </p:txBody>
      </p:sp>
      <p:sp>
        <p:nvSpPr>
          <p:cNvPr id="39" name="Oval 38"/>
          <p:cNvSpPr/>
          <p:nvPr/>
        </p:nvSpPr>
        <p:spPr>
          <a:xfrm>
            <a:off x="2834640" y="5532120"/>
            <a:ext cx="320040" cy="32004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46120" y="553212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8181B"/>
                </a:solidFill>
                <a:latin typeface="Calibri"/>
              </a:defRPr>
            </a:pPr>
            <a:r>
              <a:t>Red  #E63946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46120" y="574243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6E7A"/>
                </a:solidFill>
                <a:latin typeface="Calibri Light"/>
              </a:defRPr>
            </a:pPr>
            <a:r>
              <a:t>Errors, critical risk, RCP 8.5</a:t>
            </a:r>
          </a:p>
        </p:txBody>
      </p:sp>
      <p:sp>
        <p:nvSpPr>
          <p:cNvPr id="42" name="Oval 41"/>
          <p:cNvSpPr/>
          <p:nvPr/>
        </p:nvSpPr>
        <p:spPr>
          <a:xfrm>
            <a:off x="5120640" y="5532120"/>
            <a:ext cx="320040" cy="320040"/>
          </a:xfrm>
          <a:prstGeom prst="ellipse">
            <a:avLst/>
          </a:prstGeom>
          <a:solidFill>
            <a:srgbClr val="00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532120" y="553212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8181B"/>
                </a:solidFill>
                <a:latin typeface="Calibri"/>
              </a:defRPr>
            </a:pPr>
            <a:r>
              <a:t>Green  #00B87A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32120" y="574243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6E7A"/>
                </a:solidFill>
                <a:latin typeface="Calibri Light"/>
              </a:defRPr>
            </a:pPr>
            <a:r>
              <a:t>Success, low risk, positive delta</a:t>
            </a:r>
          </a:p>
        </p:txBody>
      </p:sp>
      <p:sp>
        <p:nvSpPr>
          <p:cNvPr id="45" name="Oval 44"/>
          <p:cNvSpPr/>
          <p:nvPr/>
        </p:nvSpPr>
        <p:spPr>
          <a:xfrm>
            <a:off x="7406640" y="5532120"/>
            <a:ext cx="320040" cy="320040"/>
          </a:xfrm>
          <a:prstGeom prst="ellipse">
            <a:avLst/>
          </a:prstGeom>
          <a:solidFill>
            <a:srgbClr val="00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18119" y="553212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8181B"/>
                </a:solidFill>
                <a:latin typeface="Calibri"/>
              </a:defRPr>
            </a:pPr>
            <a:r>
              <a:t>Teal  #0096B4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18119" y="574243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6E7A"/>
                </a:solidFill>
                <a:latin typeface="Calibri Light"/>
              </a:defRPr>
            </a:pPr>
            <a:r>
              <a:t>Info, water/coastal, secondary</a:t>
            </a:r>
          </a:p>
        </p:txBody>
      </p:sp>
      <p:sp>
        <p:nvSpPr>
          <p:cNvPr id="48" name="Oval 47"/>
          <p:cNvSpPr/>
          <p:nvPr/>
        </p:nvSpPr>
        <p:spPr>
          <a:xfrm>
            <a:off x="9692640" y="5532120"/>
            <a:ext cx="320040" cy="320040"/>
          </a:xfrm>
          <a:prstGeom prst="ellipse">
            <a:avLst/>
          </a:prstGeom>
          <a:solidFill>
            <a:srgbClr val="6E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104119" y="553212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8181B"/>
                </a:solidFill>
                <a:latin typeface="Calibri"/>
              </a:defRPr>
            </a:pPr>
            <a:r>
              <a:t>Grey  #6E6E7A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104119" y="574243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6E7A"/>
                </a:solidFill>
                <a:latin typeface="Calibri Light"/>
              </a:defRPr>
            </a:pPr>
            <a:r>
              <a:t>Secondary text, captions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8A8B2"/>
                </a:solidFill>
                <a:latin typeface="Calibri Light"/>
              </a:defRPr>
            </a:pPr>
            <a:r>
              <a:t>Open Climate Risk — Brand Guidelines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63640"/>
            <a:ext cx="11064240" cy="9525"/>
          </a:xfrm>
          <a:prstGeom prst="rect">
            <a:avLst/>
          </a:prstGeom>
          <a:solidFill>
            <a:srgbClr val="D4D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8181B"/>
                </a:solidFill>
                <a:latin typeface="Calibri"/>
              </a:defRPr>
            </a:pPr>
            <a:r>
              <a:t>Typography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371600" cy="38100"/>
          </a:xfrm>
          <a:prstGeom prst="rect">
            <a:avLst/>
          </a:prstGeom>
          <a:solidFill>
            <a:srgbClr val="252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530352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25FF"/>
                </a:solidFill>
                <a:latin typeface="Calibri"/>
              </a:defRPr>
            </a:pPr>
            <a:r>
              <a:t>Calibri Light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7A"/>
                </a:solidFill>
                <a:latin typeface="Calibri Light"/>
              </a:defRPr>
            </a:pPr>
            <a:r>
              <a:t>Primary typeface — body text, descriptions, captions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8181B"/>
                </a:solidFill>
                <a:latin typeface="Calibri Light"/>
              </a:defRPr>
            </a:pPr>
            <a:r>
              <a:t>Aa Bb Cc Dd Ee Ff Gg Hh Ii Jj Kk Ll Mm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60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8181B"/>
                </a:solidFill>
                <a:latin typeface="Calibri Light"/>
              </a:defRPr>
            </a:pPr>
            <a:r>
              <a:t>Nn Oo Pp Qq Rr Ss Tt Uu Vv Ww Xx Yy Zz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17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8181B"/>
                </a:solidFill>
                <a:latin typeface="Calibri Light"/>
              </a:defRPr>
            </a:pPr>
            <a:r>
              <a:t>0 1 2 3 4 5 6 7 8 9  !@#$%^&amp;*()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566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25FF"/>
                </a:solidFill>
                <a:latin typeface="Calibri"/>
              </a:defRPr>
            </a:pPr>
            <a:r>
              <a:t>Calibri Bold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40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7A"/>
                </a:solidFill>
                <a:latin typeface="Calibri Light"/>
              </a:defRPr>
            </a:pPr>
            <a:r>
              <a:t>Headings, titles, emphasis, wordmark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06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8181B"/>
                </a:solidFill>
                <a:latin typeface="Calibri"/>
              </a:defRPr>
            </a:pPr>
            <a:r>
              <a:t>Open Climate Risk 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25FF"/>
                </a:solidFill>
                <a:latin typeface="Calibri"/>
              </a:defRPr>
            </a:pPr>
            <a:r>
              <a:t>Consolas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7A"/>
                </a:solidFill>
                <a:latin typeface="Calibri Light"/>
              </a:defRPr>
            </a:pPr>
            <a:r>
              <a:t>Code, technical values, file paths, monospaced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394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8181B"/>
                </a:solidFill>
                <a:latin typeface="Consolas"/>
              </a:defRPr>
            </a:pPr>
            <a:r>
              <a:t>pip install open-climate-risk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188720"/>
            <a:ext cx="530352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371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25FF"/>
                </a:solidFill>
                <a:latin typeface="Calibri"/>
              </a:defRPr>
            </a:pPr>
            <a:r>
              <a:t>Type scale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17373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E6E7A"/>
                </a:solidFill>
                <a:latin typeface="Calibri"/>
              </a:defRPr>
            </a:pPr>
            <a:r>
              <a:t>Display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17373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8181B"/>
                </a:solidFill>
                <a:latin typeface="Calibri"/>
              </a:defRPr>
            </a:pPr>
            <a:r>
              <a:t>40pt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17830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6E7A"/>
                </a:solidFill>
                <a:latin typeface="Calibri Light"/>
              </a:defRPr>
            </a:pPr>
            <a:r>
              <a:t>Slide titles, cover pages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3317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E6E7A"/>
                </a:solidFill>
                <a:latin typeface="Calibri"/>
              </a:defRPr>
            </a:pPr>
            <a:r>
              <a:t>H1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2331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8181B"/>
                </a:solidFill>
                <a:latin typeface="Calibri"/>
              </a:defRPr>
            </a:pPr>
            <a:r>
              <a:t>28pt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237743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6E7A"/>
                </a:solidFill>
                <a:latin typeface="Calibri Light"/>
              </a:defRPr>
            </a:pPr>
            <a:r>
              <a:t>Section headers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292607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E6E7A"/>
                </a:solidFill>
                <a:latin typeface="Calibri"/>
              </a:defRPr>
            </a:pPr>
            <a:r>
              <a:t>H2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292607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8181B"/>
                </a:solidFill>
                <a:latin typeface="Calibri"/>
              </a:defRPr>
            </a:pPr>
            <a:r>
              <a:t>22pt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297179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6E7A"/>
                </a:solidFill>
                <a:latin typeface="Calibri Light"/>
              </a:defRPr>
            </a:pPr>
            <a:r>
              <a:t>Subsection headers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34290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E6E7A"/>
                </a:solidFill>
                <a:latin typeface="Calibri"/>
              </a:defRPr>
            </a:pPr>
            <a:r>
              <a:t>H3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34290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8181B"/>
                </a:solidFill>
                <a:latin typeface="Calibri"/>
              </a:defRPr>
            </a:pPr>
            <a:r>
              <a:t>16pt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34747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6E7A"/>
                </a:solidFill>
                <a:latin typeface="Calibri Light"/>
              </a:defRPr>
            </a:pPr>
            <a:r>
              <a:t>Card titles, labels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39319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E6E7A"/>
                </a:solidFill>
                <a:latin typeface="Calibri"/>
              </a:defRPr>
            </a:pPr>
            <a:r>
              <a:t>Body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0" y="39319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8181B"/>
                </a:solidFill>
                <a:latin typeface="Calibri Light"/>
              </a:defRPr>
            </a:pPr>
            <a:r>
              <a:t>14pt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397763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6E7A"/>
                </a:solidFill>
                <a:latin typeface="Calibri Light"/>
              </a:defRPr>
            </a:pPr>
            <a:r>
              <a:t>Paragraph text, descriptions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44348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E6E7A"/>
                </a:solidFill>
                <a:latin typeface="Calibri"/>
              </a:defRPr>
            </a:pPr>
            <a:r>
              <a:t>Small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60" y="4434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8181B"/>
                </a:solidFill>
                <a:latin typeface="Calibri Light"/>
              </a:defRPr>
            </a:pPr>
            <a:r>
              <a:t>12pt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0" y="448055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6E7A"/>
                </a:solidFill>
                <a:latin typeface="Calibri Light"/>
              </a:defRPr>
            </a:pPr>
            <a:r>
              <a:t>Captions, references, metadata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493775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E6E7A"/>
                </a:solidFill>
                <a:latin typeface="Calibri"/>
              </a:defRPr>
            </a:pPr>
            <a:r>
              <a:t>Micro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80960" y="493775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8181B"/>
                </a:solidFill>
                <a:latin typeface="Calibri Light"/>
              </a:defRPr>
            </a:pPr>
            <a:r>
              <a:t>10pt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0" y="498347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6E7A"/>
                </a:solidFill>
                <a:latin typeface="Calibri Light"/>
              </a:defRPr>
            </a:pPr>
            <a:r>
              <a:t>Footer, legal, annotations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544067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E6E7A"/>
                </a:solidFill>
                <a:latin typeface="Calibri"/>
              </a:defRPr>
            </a:pPr>
            <a:r>
              <a:t>Code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544067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8181B"/>
                </a:solidFill>
                <a:latin typeface="Consolas"/>
              </a:defRPr>
            </a:pPr>
            <a:r>
              <a:t>13pt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26880" y="548639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6E7A"/>
                </a:solidFill>
                <a:latin typeface="Calibri Light"/>
              </a:defRPr>
            </a:pPr>
            <a:r>
              <a:t>Technical values, paths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8A8B2"/>
                </a:solidFill>
                <a:latin typeface="Calibri Light"/>
              </a:defRPr>
            </a:pPr>
            <a:r>
              <a:t>Open Climate Risk — Brand Guidelines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63640"/>
            <a:ext cx="11064240" cy="9525"/>
          </a:xfrm>
          <a:prstGeom prst="rect">
            <a:avLst/>
          </a:prstGeom>
          <a:solidFill>
            <a:srgbClr val="D4D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8181B"/>
                </a:solidFill>
                <a:latin typeface="Calibri"/>
              </a:defRPr>
            </a:pPr>
            <a:r>
              <a:t>Visual Language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371600" cy="38100"/>
          </a:xfrm>
          <a:prstGeom prst="rect">
            <a:avLst/>
          </a:prstGeom>
          <a:solidFill>
            <a:srgbClr val="252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181B"/>
                </a:solidFill>
                <a:latin typeface="Calibri"/>
              </a:defRPr>
            </a:pPr>
            <a:r>
              <a:t>Cards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7A"/>
                </a:solidFill>
                <a:latin typeface="Calibri Light"/>
              </a:defRPr>
            </a:pPr>
            <a:r>
              <a:t>White rounded rectangles with left color accent bar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18288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50800" cy="822960"/>
          </a:xfrm>
          <a:prstGeom prst="rect">
            <a:avLst/>
          </a:prstGeom>
          <a:solidFill>
            <a:srgbClr val="252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288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525FF"/>
                </a:solidFill>
                <a:latin typeface="Calibri"/>
              </a:defRPr>
            </a:pPr>
            <a:r>
              <a:t>Blue accent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031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6E7A"/>
                </a:solidFill>
                <a:latin typeface="Calibri Light"/>
              </a:defRPr>
            </a:pPr>
            <a:r>
              <a:t>Content area with</a:t>
            </a:r>
          </a:p>
          <a:p>
            <a:pPr algn="l">
              <a:defRPr sz="900" b="0">
                <a:solidFill>
                  <a:srgbClr val="6E6E7A"/>
                </a:solidFill>
                <a:latin typeface="Calibri Light"/>
              </a:defRPr>
            </a:pPr>
            <a:r>
              <a:t>bullet points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1737360"/>
            <a:ext cx="18288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60320" y="1874519"/>
            <a:ext cx="50800" cy="8229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88920" y="18288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8C00"/>
                </a:solidFill>
                <a:latin typeface="Calibri"/>
              </a:defRPr>
            </a:pPr>
            <a:r>
              <a:t>Orange accent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21031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6E7A"/>
                </a:solidFill>
                <a:latin typeface="Calibri Light"/>
              </a:defRPr>
            </a:pPr>
            <a:r>
              <a:t>Content area with</a:t>
            </a:r>
          </a:p>
          <a:p>
            <a:pPr algn="l">
              <a:defRPr sz="900" b="0">
                <a:solidFill>
                  <a:srgbClr val="6E6E7A"/>
                </a:solidFill>
                <a:latin typeface="Calibri Light"/>
              </a:defRPr>
            </a:pPr>
            <a:r>
              <a:t>bullet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1737360"/>
            <a:ext cx="18288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0" y="1874519"/>
            <a:ext cx="50800" cy="822960"/>
          </a:xfrm>
          <a:prstGeom prst="rect">
            <a:avLst/>
          </a:prstGeom>
          <a:solidFill>
            <a:srgbClr val="00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0600" y="18288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87A"/>
                </a:solidFill>
                <a:latin typeface="Calibri"/>
              </a:defRPr>
            </a:pPr>
            <a:r>
              <a:t>Green accent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21031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6E7A"/>
                </a:solidFill>
                <a:latin typeface="Calibri Light"/>
              </a:defRPr>
            </a:pPr>
            <a:r>
              <a:t>Content area with</a:t>
            </a:r>
          </a:p>
          <a:p>
            <a:pPr algn="l">
              <a:defRPr sz="900" b="0">
                <a:solidFill>
                  <a:srgbClr val="6E6E7A"/>
                </a:solidFill>
                <a:latin typeface="Calibri Light"/>
              </a:defRPr>
            </a:pPr>
            <a:r>
              <a:t>bullet points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017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181B"/>
                </a:solidFill>
                <a:latin typeface="Calibri"/>
              </a:defRPr>
            </a:pPr>
            <a:r>
              <a:t>Section titles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291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7A"/>
                </a:solidFill>
                <a:latin typeface="Calibri Light"/>
              </a:defRPr>
            </a:pPr>
            <a:r>
              <a:t>Left-aligned title + thin blue underline (2.5" wide, 3pt)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657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8181B"/>
                </a:solidFill>
                <a:latin typeface="Calibri"/>
              </a:defRPr>
            </a:pPr>
            <a:r>
              <a:t>Section Title Here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023360"/>
            <a:ext cx="2286000" cy="38100"/>
          </a:xfrm>
          <a:prstGeom prst="rect">
            <a:avLst/>
          </a:prstGeom>
          <a:solidFill>
            <a:srgbClr val="252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097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181B"/>
                </a:solidFill>
                <a:latin typeface="Calibri"/>
              </a:defRPr>
            </a:pPr>
            <a:r>
              <a:t>Metric boxes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1371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7A"/>
                </a:solidFill>
                <a:latin typeface="Calibri Light"/>
              </a:defRPr>
            </a:pPr>
            <a:r>
              <a:t>Large number (32pt bold) + small label (11pt grey)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1737360"/>
            <a:ext cx="210312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525FF"/>
                </a:solidFill>
                <a:latin typeface="Calibri"/>
              </a:defRPr>
            </a:pPr>
            <a:r>
              <a:t>135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2286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7A"/>
                </a:solidFill>
                <a:latin typeface="Calibri Light"/>
              </a:defRPr>
            </a:pPr>
            <a:r>
              <a:t>GeoTIFF files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778240" y="1737360"/>
            <a:ext cx="210312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2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525FF"/>
                </a:solidFill>
                <a:latin typeface="Calibri"/>
              </a:defRPr>
            </a:pPr>
            <a:r>
              <a:t>~1 km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2286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7A"/>
                </a:solidFill>
                <a:latin typeface="Calibri Light"/>
              </a:defRPr>
            </a:pPr>
            <a:r>
              <a:t>Spatial resolution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017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181B"/>
                </a:solidFill>
                <a:latin typeface="Calibri"/>
              </a:defRPr>
            </a:pPr>
            <a:r>
              <a:t>Background usage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3383280"/>
            <a:ext cx="2468880" cy="1097280"/>
          </a:xfrm>
          <a:prstGeom prst="roundRect">
            <a:avLst/>
          </a:prstGeom>
          <a:solidFill>
            <a:srgbClr val="EDEDF0"/>
          </a:solidFill>
          <a:ln w="12700">
            <a:solidFill>
              <a:srgbClr val="D4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35204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8181B"/>
                </a:solidFill>
                <a:latin typeface="Calibri"/>
              </a:defRPr>
            </a:pPr>
            <a:r>
              <a:t>Light grey #EDEDF0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38404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8181B"/>
                </a:solidFill>
                <a:latin typeface="Calibri Light"/>
              </a:defRPr>
            </a:pPr>
            <a:r>
              <a:t>Sample text here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416052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6E7A"/>
                </a:solidFill>
                <a:latin typeface="Calibri Light"/>
              </a:defRPr>
            </a:pPr>
            <a:r>
              <a:t>Default slide bg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383280"/>
            <a:ext cx="24688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81160" y="35204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8181B"/>
                </a:solidFill>
                <a:latin typeface="Calibri"/>
              </a:defRPr>
            </a:pPr>
            <a:r>
              <a:t>White #FFFFFF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81160" y="38404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8181B"/>
                </a:solidFill>
                <a:latin typeface="Calibri Light"/>
              </a:defRPr>
            </a:pPr>
            <a:r>
              <a:t>Sample text here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81160" y="416052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6E7A"/>
                </a:solidFill>
                <a:latin typeface="Calibri Light"/>
              </a:defRPr>
            </a:pPr>
            <a:r>
              <a:t>Title/closing slides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0" y="4754880"/>
            <a:ext cx="2468880" cy="1097280"/>
          </a:xfrm>
          <a:prstGeom prst="roundRect">
            <a:avLst/>
          </a:prstGeom>
          <a:solidFill>
            <a:srgbClr val="252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37960" y="48920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Blue #2525FF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37960" y="52120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 Light"/>
              </a:defRPr>
            </a:pPr>
            <a:r>
              <a:t>Sample text here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7960" y="553212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8A8B2"/>
                </a:solidFill>
                <a:latin typeface="Calibri Light"/>
              </a:defRPr>
            </a:pPr>
            <a:r>
              <a:t>Accent blocks, reversed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144000" y="4754880"/>
            <a:ext cx="2468880" cy="1097280"/>
          </a:xfrm>
          <a:prstGeom prst="roundRect">
            <a:avLst/>
          </a:prstGeom>
          <a:solidFill>
            <a:srgbClr val="121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81160" y="48920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Dark #12122E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81160" y="52120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 Light"/>
              </a:defRPr>
            </a:pPr>
            <a:r>
              <a:t>Sample text here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81160" y="553212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8A8B2"/>
                </a:solidFill>
                <a:latin typeface="Calibri Light"/>
              </a:defRPr>
            </a:pPr>
            <a:r>
              <a:t>Dark mode variant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8A8B2"/>
                </a:solidFill>
                <a:latin typeface="Calibri Light"/>
              </a:defRPr>
            </a:pPr>
            <a:r>
              <a:t>Open Climate Risk — Brand Guidelines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63640"/>
            <a:ext cx="11064240" cy="9525"/>
          </a:xfrm>
          <a:prstGeom prst="rect">
            <a:avLst/>
          </a:prstGeom>
          <a:solidFill>
            <a:srgbClr val="D4D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8181B"/>
                </a:solidFill>
                <a:latin typeface="Calibri"/>
              </a:defRPr>
            </a:pPr>
            <a:r>
              <a:t>Data Visualization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371600" cy="38100"/>
          </a:xfrm>
          <a:prstGeom prst="rect">
            <a:avLst/>
          </a:prstGeom>
          <a:solidFill>
            <a:srgbClr val="252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181B"/>
                </a:solidFill>
                <a:latin typeface="Calibri"/>
              </a:defRPr>
            </a:pPr>
            <a:r>
              <a:t>Scenario palette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E6E7A"/>
                </a:solidFill>
                <a:latin typeface="Calibri Light"/>
              </a:defRPr>
            </a:pPr>
            <a:r>
              <a:t>Consistent across all charts and maps. Matches WRI / IPCC conventions.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1097280" cy="508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1737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8181B"/>
                </a:solidFill>
                <a:latin typeface="Calibri Light"/>
              </a:defRPr>
            </a:pPr>
            <a:r>
              <a:t>Historical baseline  (#1565C0)  —  solid 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77440"/>
            <a:ext cx="1097280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2286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8181B"/>
                </a:solidFill>
                <a:latin typeface="Calibri Light"/>
              </a:defRPr>
            </a:pPr>
            <a:r>
              <a:t>RCP 4.5 / SSP2-4.5  (#FF9800)  —  dashed 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926079"/>
            <a:ext cx="109728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283463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8181B"/>
                </a:solidFill>
                <a:latin typeface="Calibri Light"/>
              </a:defRPr>
            </a:pPr>
            <a:r>
              <a:t>RCP 8.5 / SSP5-8.5  (#E63946)  —  dotted 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474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181B"/>
                </a:solidFill>
                <a:latin typeface="Calibri"/>
              </a:defRPr>
            </a:pPr>
            <a:r>
              <a:t>GCM model palette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886200"/>
            <a:ext cx="182880" cy="18288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840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8181B"/>
                </a:solidFill>
                <a:latin typeface="Consolas"/>
              </a:defRPr>
            </a:pPr>
            <a:r>
              <a:t>MIROC-ESM-CHEM  #E63946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4251960"/>
            <a:ext cx="182880" cy="182880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206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8181B"/>
                </a:solidFill>
                <a:latin typeface="Consolas"/>
              </a:defRPr>
            </a:pPr>
            <a:r>
              <a:t>NorESM1-M  #2196F3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617720"/>
            <a:ext cx="182880" cy="18288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572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8181B"/>
                </a:solidFill>
                <a:latin typeface="Consolas"/>
              </a:defRPr>
            </a:pPr>
            <a:r>
              <a:t>GFDL-ESM2M  #FF9800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4983480"/>
            <a:ext cx="182880" cy="182880"/>
          </a:xfrm>
          <a:prstGeom prst="ellipse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937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8181B"/>
                </a:solidFill>
                <a:latin typeface="Consolas"/>
              </a:defRPr>
            </a:pPr>
            <a:r>
              <a:t>HadGEM2-ES  #9C27B0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5349240"/>
            <a:ext cx="182880" cy="18288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303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8181B"/>
                </a:solidFill>
                <a:latin typeface="Consolas"/>
              </a:defRPr>
            </a:pPr>
            <a:r>
              <a:t>IPSL-CM5A-LR  #4CAF50</a:t>
            </a:r>
          </a:p>
        </p:txBody>
      </p:sp>
      <p:sp>
        <p:nvSpPr>
          <p:cNvPr id="25" name="Oval 24"/>
          <p:cNvSpPr/>
          <p:nvPr/>
        </p:nvSpPr>
        <p:spPr>
          <a:xfrm>
            <a:off x="548640" y="5715000"/>
            <a:ext cx="182880" cy="18288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669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8181B"/>
                </a:solidFill>
                <a:latin typeface="Consolas"/>
              </a:defRPr>
            </a:pPr>
            <a:r>
              <a:t>WATCH (hist.)  #1565C0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1097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181B"/>
                </a:solidFill>
                <a:latin typeface="Calibri"/>
              </a:defRPr>
            </a:pPr>
            <a:r>
              <a:t>Asset type palette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1463040"/>
            <a:ext cx="365760" cy="32004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0" y="14813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8181B"/>
                </a:solidFill>
                <a:latin typeface="Calibri Light"/>
              </a:defRPr>
            </a:pPr>
            <a:r>
              <a:t>Residential  #E63946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1920240"/>
            <a:ext cx="365760" cy="32004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0" y="1938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8181B"/>
                </a:solidFill>
                <a:latin typeface="Calibri Light"/>
              </a:defRPr>
            </a:pPr>
            <a:r>
              <a:t>Commercial  #2196F3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2377440"/>
            <a:ext cx="365760" cy="32004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0" y="23957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8181B"/>
                </a:solidFill>
                <a:latin typeface="Calibri Light"/>
              </a:defRPr>
            </a:pPr>
            <a:r>
              <a:t>Industrial  #FF9800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2834640"/>
            <a:ext cx="365760" cy="32004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0" y="28529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8181B"/>
                </a:solidFill>
                <a:latin typeface="Calibri Light"/>
              </a:defRPr>
            </a:pPr>
            <a:r>
              <a:t>Agriculture  #4CAF50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3291840"/>
            <a:ext cx="365760" cy="32004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0" y="33101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8181B"/>
                </a:solidFill>
                <a:latin typeface="Calibri Light"/>
              </a:defRPr>
            </a:pPr>
            <a:r>
              <a:t>Transport  #9C27B0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3840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181B"/>
                </a:solidFill>
                <a:latin typeface="Calibri"/>
              </a:defRPr>
            </a:pPr>
            <a:r>
              <a:t>Chart guidelines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2062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8181B"/>
                </a:solidFill>
                <a:latin typeface="Calibri Light"/>
              </a:defRPr>
            </a:pPr>
            <a:r>
              <a:t>•  Grid: light grey (#D4D4DA), alpha 0.3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480559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8181B"/>
                </a:solidFill>
                <a:latin typeface="Calibri Light"/>
              </a:defRPr>
            </a:pPr>
            <a:r>
              <a:t>•  Axes labels: 11pt Calibri Light, dark grey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4754879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8181B"/>
                </a:solidFill>
                <a:latin typeface="Calibri Light"/>
              </a:defRPr>
            </a:pPr>
            <a:r>
              <a:t>•  Title: 13pt Calibri Bold, black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50292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8181B"/>
                </a:solidFill>
                <a:latin typeface="Calibri Light"/>
              </a:defRPr>
            </a:pPr>
            <a:r>
              <a:t>•  Legend: 9pt, upper-left or outside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53035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8181B"/>
                </a:solidFill>
                <a:latin typeface="Calibri Light"/>
              </a:defRPr>
            </a:pPr>
            <a:r>
              <a:t>•  Background: white (#FFFFFF)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55778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7A"/>
                </a:solidFill>
                <a:latin typeface="Calibri Light"/>
              </a:defRPr>
            </a:pPr>
            <a:r>
              <a:t>•  Line width: 2.2pt data, 1pt grid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5852159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7A"/>
                </a:solidFill>
                <a:latin typeface="Calibri Light"/>
              </a:defRPr>
            </a:pPr>
            <a:r>
              <a:t>•  Marker: circle, 4pt for individual GCMs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6126479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7A"/>
                </a:solidFill>
                <a:latin typeface="Calibri Light"/>
              </a:defRPr>
            </a:pPr>
            <a:r>
              <a:t>•  Fill between: alpha 0.07 for uncertainty bands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64008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7A"/>
                </a:solidFill>
                <a:latin typeface="Calibri Light"/>
              </a:defRPr>
            </a:pPr>
            <a:r>
              <a:t>•  DPI: 150 for screen, 300 for print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6675119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6E7A"/>
                </a:solidFill>
                <a:latin typeface="Calibri Light"/>
              </a:defRPr>
            </a:pPr>
            <a:r>
              <a:t>•  Colorblind-safe: all palettes tested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8A8B2"/>
                </a:solidFill>
                <a:latin typeface="Calibri Light"/>
              </a:defRPr>
            </a:pPr>
            <a:r>
              <a:t>Open Climate Risk — Brand Guidelines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63640"/>
            <a:ext cx="11064240" cy="9525"/>
          </a:xfrm>
          <a:prstGeom prst="rect">
            <a:avLst/>
          </a:prstGeom>
          <a:solidFill>
            <a:srgbClr val="D4D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8181B"/>
                </a:solidFill>
                <a:latin typeface="Calibri"/>
              </a:defRPr>
            </a:pPr>
            <a:r>
              <a:t>Tone of Voice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371600" cy="38100"/>
          </a:xfrm>
          <a:prstGeom prst="rect">
            <a:avLst/>
          </a:prstGeom>
          <a:solidFill>
            <a:srgbClr val="252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25FF"/>
                </a:solidFill>
                <a:latin typeface="Calibri"/>
              </a:defRPr>
            </a:pPr>
            <a:r>
              <a:t>Technical, not jargony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8181B"/>
                </a:solidFill>
                <a:latin typeface="Calibri Light"/>
              </a:defRPr>
            </a:pPr>
            <a:r>
              <a:t>We explain methodology clearly. Every metric has a definition. We cite our sources.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18181B"/>
                </a:solidFill>
                <a:latin typeface="Calibri Light"/>
              </a:defRPr>
            </a:pPr>
            <a:r>
              <a:t>Say "Expected Annual Damage" not "proprietary risk score".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25FF"/>
                </a:solidFill>
                <a:latin typeface="Calibri"/>
              </a:defRPr>
            </a:pPr>
            <a:r>
              <a:t>Transparent, always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8181B"/>
                </a:solidFill>
                <a:latin typeface="Calibri Light"/>
              </a:defRPr>
            </a:pPr>
            <a:r>
              <a:t>Open-source means showing the work. Our notebooks are the documentation.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18181B"/>
                </a:solidFill>
                <a:latin typeface="Calibri Light"/>
              </a:defRPr>
            </a:pPr>
            <a:r>
              <a:t>No black boxes. Every assumption stated.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25FF"/>
                </a:solidFill>
                <a:latin typeface="Calibri"/>
              </a:defRPr>
            </a:pPr>
            <a:r>
              <a:t>Precise, not approximate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74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8181B"/>
                </a:solidFill>
                <a:latin typeface="Calibri Light"/>
              </a:defRPr>
            </a:pPr>
            <a:r>
              <a:t>Use exact numbers with units. "€18,550/yr" not "moderate risk".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18181B"/>
                </a:solidFill>
                <a:latin typeface="Calibri Light"/>
              </a:defRPr>
            </a:pPr>
            <a:r>
              <a:t>Show uncertainty: "EAD median €19,906, range €19,469–€24,614".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06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25FF"/>
                </a:solidFill>
                <a:latin typeface="Calibri"/>
              </a:defRPr>
            </a:pPr>
            <a:r>
              <a:t>Accessible to non-specialists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480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8181B"/>
                </a:solidFill>
                <a:latin typeface="Calibri Light"/>
              </a:defRPr>
            </a:pPr>
            <a:r>
              <a:t>An investor, a sustainability officer, and a civil engineer should all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18181B"/>
                </a:solidFill>
                <a:latin typeface="Calibri Light"/>
              </a:defRPr>
            </a:pPr>
            <a:r>
              <a:t>understand the output. Layer complexity: summary first, details available.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12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25FF"/>
                </a:solidFill>
                <a:latin typeface="Calibri"/>
              </a:defRPr>
            </a:pPr>
            <a:r>
              <a:t>Global perspective, local precision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4864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8181B"/>
                </a:solidFill>
                <a:latin typeface="Calibri Light"/>
              </a:defRPr>
            </a:pPr>
            <a:r>
              <a:t>We work globally but respect that risk is local.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18181B"/>
                </a:solidFill>
                <a:latin typeface="Calibri Light"/>
              </a:defRPr>
            </a:pPr>
            <a:r>
              <a:t>Always acknowledge resolution limits. Always recommend local validation.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8A8B2"/>
                </a:solidFill>
                <a:latin typeface="Calibri Light"/>
              </a:defRPr>
            </a:pPr>
            <a:r>
              <a:t>Open Climate Risk — Brand Guidelines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6263640"/>
            <a:ext cx="11064240" cy="9525"/>
          </a:xfrm>
          <a:prstGeom prst="rect">
            <a:avLst/>
          </a:prstGeom>
          <a:solidFill>
            <a:srgbClr val="D4D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8181B"/>
                </a:solidFill>
                <a:latin typeface="Calibri"/>
              </a:defRPr>
            </a:pPr>
            <a:r>
              <a:t>Application Examples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371600" cy="38100"/>
          </a:xfrm>
          <a:prstGeom prst="rect">
            <a:avLst/>
          </a:prstGeom>
          <a:solidFill>
            <a:srgbClr val="252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347472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0800" cy="1828800"/>
          </a:xfrm>
          <a:prstGeom prst="rect">
            <a:avLst/>
          </a:prstGeom>
          <a:solidFill>
            <a:srgbClr val="252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3716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25FF"/>
                </a:solidFill>
                <a:latin typeface="Calibri"/>
              </a:defRPr>
            </a:pPr>
            <a:r>
              <a:t>Presentations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73736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18181B"/>
                </a:solidFill>
                <a:latin typeface="Calibri Light"/>
              </a:defRPr>
            </a:pPr>
            <a:r>
              <a:t>Blue block + white content, or full light grey.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18181B"/>
                </a:solidFill>
                <a:latin typeface="Calibri Light"/>
              </a:defRPr>
            </a:pPr>
            <a:r>
              <a:t>Logo in header or closing slide.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188720"/>
            <a:ext cx="347472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280160"/>
            <a:ext cx="50800" cy="1828800"/>
          </a:xfrm>
          <a:prstGeom prst="rect">
            <a:avLst/>
          </a:prstGeom>
          <a:solidFill>
            <a:srgbClr val="252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3716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25FF"/>
                </a:solidFill>
                <a:latin typeface="Calibri"/>
              </a:defRPr>
            </a:pPr>
            <a:r>
              <a:t>Reports (Word)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173736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18181B"/>
                </a:solidFill>
                <a:latin typeface="Calibri Light"/>
              </a:defRPr>
            </a:pPr>
            <a:r>
              <a:t>Cover: blue header bar, logo top-left.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18181B"/>
                </a:solidFill>
                <a:latin typeface="Calibri Light"/>
              </a:defRPr>
            </a:pPr>
            <a:r>
              <a:t>Body: Calibri Light 11pt, OCR Blue headings.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188720"/>
            <a:ext cx="347472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280160"/>
            <a:ext cx="50800" cy="1828800"/>
          </a:xfrm>
          <a:prstGeom prst="rect">
            <a:avLst/>
          </a:prstGeom>
          <a:solidFill>
            <a:srgbClr val="252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13716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25FF"/>
                </a:solidFill>
                <a:latin typeface="Calibri"/>
              </a:defRPr>
            </a:pPr>
            <a:r>
              <a:t>GitHub README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173736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18181B"/>
                </a:solidFill>
                <a:latin typeface="Calibri Light"/>
              </a:defRPr>
            </a:pPr>
            <a:r>
              <a:t>Logo at top. Badges in OCR Blue.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18181B"/>
                </a:solidFill>
                <a:latin typeface="Calibri Light"/>
              </a:defRPr>
            </a:pPr>
            <a:r>
              <a:t>Code blocks in Consolas.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566160"/>
            <a:ext cx="347472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657600"/>
            <a:ext cx="50800" cy="1828800"/>
          </a:xfrm>
          <a:prstGeom prst="rect">
            <a:avLst/>
          </a:prstGeom>
          <a:solidFill>
            <a:srgbClr val="252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37490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25FF"/>
                </a:solidFill>
                <a:latin typeface="Calibri"/>
              </a:defRPr>
            </a:pPr>
            <a:r>
              <a:t>API docs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411480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18181B"/>
                </a:solidFill>
                <a:latin typeface="Calibri Light"/>
              </a:defRPr>
            </a:pPr>
            <a:r>
              <a:t>OpenAPI/Swagger with brand colors.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18181B"/>
                </a:solidFill>
                <a:latin typeface="Calibri Light"/>
              </a:defRPr>
            </a:pPr>
            <a:r>
              <a:t>Endpoints in monospace.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566160"/>
            <a:ext cx="347472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0" y="3657600"/>
            <a:ext cx="50800" cy="1828800"/>
          </a:xfrm>
          <a:prstGeom prst="rect">
            <a:avLst/>
          </a:prstGeom>
          <a:solidFill>
            <a:srgbClr val="252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37490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25FF"/>
                </a:solidFill>
                <a:latin typeface="Calibri"/>
              </a:defRPr>
            </a:pPr>
            <a:r>
              <a:t>Web 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411480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18181B"/>
                </a:solidFill>
                <a:latin typeface="Calibri Light"/>
              </a:defRPr>
            </a:pPr>
            <a:r>
              <a:t>Light grey background, white cards.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18181B"/>
                </a:solidFill>
                <a:latin typeface="Calibri Light"/>
              </a:defRPr>
            </a:pPr>
            <a:r>
              <a:t>Blue accent, orange/red for risk levels.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3566160"/>
            <a:ext cx="347472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657600"/>
            <a:ext cx="50800" cy="1828800"/>
          </a:xfrm>
          <a:prstGeom prst="rect">
            <a:avLst/>
          </a:prstGeom>
          <a:solidFill>
            <a:srgbClr val="252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0" y="37490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25FF"/>
                </a:solidFill>
                <a:latin typeface="Calibri"/>
              </a:defRPr>
            </a:pPr>
            <a:r>
              <a:t>Email / letterhead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411480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18181B"/>
                </a:solidFill>
                <a:latin typeface="Calibri Light"/>
              </a:defRPr>
            </a:pPr>
            <a:r>
              <a:t>Logo top-left, thin blue line below.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18181B"/>
                </a:solidFill>
                <a:latin typeface="Calibri Light"/>
              </a:defRPr>
            </a:pPr>
            <a:r>
              <a:t>Minimal, professional.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
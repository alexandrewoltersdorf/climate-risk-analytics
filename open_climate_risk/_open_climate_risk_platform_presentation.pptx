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Open</a:t>
            </a:r>
          </a:p>
          <a:p>
            <a:pPr algn="l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Climate</a:t>
            </a:r>
          </a:p>
          <a:p>
            <a:pPr algn="l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Risk</a:t>
            </a:r>
          </a:p>
          <a:p>
            <a:pPr algn="l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D6FF"/>
                </a:solidFill>
                <a:latin typeface="Calibri Light"/>
              </a:defRPr>
            </a:pPr>
            <a:r>
              <a:t>open-source  ·  global  ·  transparent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6FF"/>
                </a:solidFill>
                <a:latin typeface="Calibri Light"/>
              </a:defRPr>
            </a:pPr>
            <a:r>
              <a:t>v0.1.0  —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Physical climate risk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011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A"/>
                </a:solidFill>
                <a:latin typeface="Calibri Light"/>
              </a:defRPr>
            </a:pPr>
            <a:r>
              <a:t>for assets and portfolios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Flood risk assessment (riverine + coastal)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WRI Aqueduct hazard data · JRC depth-damage functions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Expected Annual Damage (EAD) calculation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Multi-scenario comparison (RCP 4.5 / 8.5)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5-GCM ensemble with uncertainty bounds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Portfolio analysis (100+ assets in batch)</a:t>
            </a:r>
          </a:p>
          <a:p>
            <a:pPr>
              <a:spcAft>
                <a:spcPts val="1200"/>
              </a:spcAft>
              <a:defRPr sz="1400">
                <a:solidFill>
                  <a:srgbClr val="18181B"/>
                </a:solidFill>
                <a:latin typeface="Calibri Light"/>
              </a:defRPr>
            </a:pPr>
            <a:r>
              <a:t>Automated Word &amp; Excel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Python  ·  MIT License  ·  pip install open-climate-risk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Climate physical risk assessment is fragmented,</a:t>
            </a:r>
          </a:p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expensive, and opaque.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Commercial tools cost €50k–500k/yr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Moody's RMS, Verisk, S&amp;P Trucost — black-box models, vendor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Methodology is 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Clients receive risk scores without understanding assumptions or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Data exists but is inaccessible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WRI, JRC, Copernicus publish open data — few tools integrate them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Regulatory pressure is accelerating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TCFD, CSRD/ESRS E1, EU Taxonomy DNSH, ECB climate stress test — all require asset-level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101600" cy="1016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Open-source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Full code + methodology on GitHub. Every assumption auditable. MIT License.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96312"/>
            <a:ext cx="101600" cy="1016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Open data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WRI Aqueduct, JRC Huizinga, Copernicus CDS, ERA5 — no proprietary lock-in.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56432"/>
            <a:ext cx="101600" cy="1016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Reproducible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Jupyter notebooks: run the analysis yourself, inspect every intermediate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16552"/>
            <a:ext cx="101600" cy="1016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Global coverage, local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~1km global rasters. Asset-level point sampling. Portfolio batch processing.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76672"/>
            <a:ext cx="101600" cy="1016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From screening to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EAD in €/year, scenario comparison, regulatory-ready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Package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7A"/>
                </a:solidFill>
                <a:latin typeface="Calibri Light"/>
              </a:defRPr>
            </a:pPr>
            <a:r>
              <a:t>open_climate_risk  —  modular Python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open_climate_risk/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├─ src/open_climate_risk/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├─ config.py      constants, paths, scenarios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├─ data.py        hazard extraction, raster I/O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├─ analysis.py    damage functions, EAD, portfolio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├─ plot.py        all visualizations (matplotlib)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└─ report.py      Word + Excel generation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├─ notebooks/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├─ 01_riverine_flood_risk.ipynb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│   └─ 02_coastal_flood_risk.ipynb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├─ tests/             22 unit tests (pytest)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├─ data/              GeoTIFFs + portfolio CSVs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onsolas"/>
              </a:defRPr>
            </a:pPr>
            <a:r>
              <a:t>└─ references/        JRC vulnerability curves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0800" cy="11430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645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config.py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Project paths, S3 base URL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Return periods (2–1000 yr)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5 GCM models + labels/colors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River &amp; coastal scenario configs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6324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200400"/>
            <a:ext cx="50800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3246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data.py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118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Aqueduct filename builders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Local-or-S3 source resolution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Raster point sampling (rasterio)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Batch sampling (1 open per file)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JRC curve loader (Excel/fallback)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Portfolio CSV importer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4800600"/>
            <a:ext cx="50800" cy="114300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846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analysis.py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21207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build_damage_function() — scipy interp1d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compute_ead() — trapezoidal integration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extract_ensemble() — 5-GCM riverine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extract_coastal_scenarios()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run_portfolio() / run_coastal_portfolio()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Batch: 1 raster open × N 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Data Pipeline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HAZARD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8B2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50800" cy="201168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WRI Aqueduct Floods v2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GeoTIFF rasters (~1km)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COG streaming or local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135 files (river+coastal)</a:t>
            </a:r>
          </a:p>
        </p:txBody>
      </p:sp>
      <p:sp>
        <p:nvSpPr>
          <p:cNvPr id="16" name="Oval 15"/>
          <p:cNvSpPr/>
          <p:nvPr/>
        </p:nvSpPr>
        <p:spPr>
          <a:xfrm>
            <a:off x="3429000" y="1417320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POINT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8B2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01168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29000" y="2148840"/>
            <a:ext cx="50800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39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25603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rasterio window read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(lon, lat) → depth [m]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9 return periods per asset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Batch: N assets × 1 open</a:t>
            </a:r>
          </a:p>
        </p:txBody>
      </p:sp>
      <p:sp>
        <p:nvSpPr>
          <p:cNvPr id="24" name="Oval 23"/>
          <p:cNvSpPr/>
          <p:nvPr/>
        </p:nvSpPr>
        <p:spPr>
          <a:xfrm>
            <a:off x="6309359" y="1417320"/>
            <a:ext cx="365760" cy="365760"/>
          </a:xfrm>
          <a:prstGeom prst="ellipse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7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7A"/>
                </a:solidFill>
                <a:latin typeface="Calibri"/>
              </a:defRPr>
            </a:pPr>
            <a:r>
              <a:t>DAMAGE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417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8B2"/>
                </a:solidFill>
                <a:latin typeface="Calibri Light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201168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2148840"/>
            <a:ext cx="50800" cy="201168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399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399" y="25603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JRC Huizinga f(d) curves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scipy interp1d (linear)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Prepend (0,0) anchor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Damage = f(d) × Value [€]</a:t>
            </a:r>
          </a:p>
        </p:txBody>
      </p:sp>
      <p:sp>
        <p:nvSpPr>
          <p:cNvPr id="32" name="Oval 31"/>
          <p:cNvSpPr/>
          <p:nvPr/>
        </p:nvSpPr>
        <p:spPr>
          <a:xfrm>
            <a:off x="9189719" y="1417320"/>
            <a:ext cx="365760" cy="3657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08007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EAD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19" y="2011680"/>
            <a:ext cx="26517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89719" y="2148840"/>
            <a:ext cx="50800" cy="2011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59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Calibri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59" y="25603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Prepend (p=1, d=0)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Trapezoidal: ∫ D(p) dp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Tail: extend to p=0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Output: EAD [€/yr]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7200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Expected Annual Damage (EAD)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EAD = ∫₀¹ D(p) dp    where p = 1/T is the annual exceedance probability and D(p) is the damage [€] for events with probability ≥ p.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Integration uses the trapezoidal rule with anchor point (p=1, D=0) and tail extrapolation to p=0. This follows the standard actuarial approach used in catastrophe modeling (e.g., Grossi &amp; Kunreuther, 2005).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Hazard Data — WRI Aqueduct Floods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7A"/>
                </a:solidFill>
                <a:latin typeface="Calibri Light"/>
              </a:defRPr>
            </a:pPr>
            <a:r>
              <a:t>Ward et al. (2020) — Global flood hazard under climate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0800" cy="201168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Riverine (fluvial) flooding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Driven by river discharge from precipitation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ISIMIP2b framework: 5 GCMs × 3 scenarios × 9 RPs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Models: MIROC-ESM-CHEM, NorESM1-M, GFDL-ESM2M, HadGEM2-ES, IPSL-CM5A-LR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Historical baseline: WATCH reanalysis (1960–1999)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Horizons: 2030, 2050, 2080 under RCP 4.5 &amp; 8.5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Resolution: ~1km (30 arcsec), global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0800" cy="201168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Coastal (storm surge + SLR)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Driven by storm surge combined with sea level rise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DIVA/GTSR model (Muis et al., 2016)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Subsidence dimension: nosub / wtsub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SLR percentile: 5th / 50th / 95th (from IPCC AR5)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Deterministic per configuration (no GCM spread)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Same resolution and return period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GeoTIFF files</a:t>
            </a:r>
          </a:p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(99 river + 36 coastal)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Return periods</a:t>
            </a:r>
          </a:p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2, 5, 10, 25, 50, 100, 250, 500, 1000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~1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Spatial resolution</a:t>
            </a:r>
          </a:p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30 arcseconds global grid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GCM models</a:t>
            </a:r>
          </a:p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ISIMIP2b ensemble (riverine)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Scenarios</a:t>
            </a:r>
          </a:p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historical + RCP 4.5 + RCP 8.5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References: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Ward, P.J. et al. (2020). Aqueduct Floods Methodology. Technical Note. Washington, D.C.: World Resources Institute.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Winsemius, H.C. et al. (2016). Global drivers of future river flood risk. Nature Climate Change, 6, 381–385.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Muis, S. et al. (2016). A global reanalysis of storm surges and extreme sea levels. Nature Communications, 7, 11969.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Vulnerability — JRC Depth-Damage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7A"/>
                </a:solidFill>
                <a:latin typeface="Calibri Light"/>
              </a:defRPr>
            </a:pPr>
            <a:r>
              <a:t>Huizinga, de Moel &amp; Szewczyk (2017) — EUR 28552 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0800" cy="27432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Relative damage curves f(d): fraction of value lost vs flood depth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Derived from empirical post-event surveys across 50+ countries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Calibrated per continent and asset type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5 asset types: residential, commercial, industrial, agriculture, transport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Depth range: 0–6m (extrapolated to saturation beyond)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Applied identically to riverine and coastal (depth-based, source-agnostic)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Maximum damage D_max in €/m² by country (2010 values)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0800" cy="274320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scipy.interpolate.interp1d (linear) for continuous f(d)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Anchor (0, 0) prepended if JRC starts at d=0.5m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Extrapolation: clamp at f(d_max) for d &gt; 6m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Total damage: Damage(d) = f(d) × V  (replacement value €)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Fallback curves embedded in code if Excel unavailable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Monotonicity verified in test suite (22 tests)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Same function used in CLIMADA (Aznar-Siguan &amp; Bresch, 2019)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References: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Huizinga, J., de Moel, H. &amp; Szewczyk, W. (2017). Global flood depth-damage functions: Methodology and the database with guidelines. EUR 28552 EN, JRC Technical Report.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Aznar-Siguan, G. &amp; Bresch, D.N. (2019). CLIMADA v1: a global weather and climate risk assessment platform. Geoscientific Model Development, 12, 3085–3097.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Grossi, P. &amp; Kunreuther, H. (2005). Catastrophe Modeling: A New Approach to Managing Risk. Springer.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Outputs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Hazard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Flood depth raster overlaid on OpenStreetMap basemap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Smoothed (gaussian) + raw pixel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Depth-Damage Curves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JRC vulnerability functions by asset type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Highlighted curve for the analyzed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Risk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Damage [€] and fraction vs return period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EAD highlighted as shaded area under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Scenario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EAD bars: historical vs RCP 4.5 / 8.5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GCM ensemble spread (min/median/max)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GCM Hazard Curves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Depth vs return period per GCM model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Median + envelope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Portfolio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European map: markers sized/colored by EAD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Pure numpy Web Mercator (no PROJ dependency)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Portfolio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4-panel: top 10 assets, by type, by country,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Word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754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7-section professional document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Cover, methodology, results, all figures embedded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Excel Workbook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54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5 sheets: summary, hazard, risk, scenarios, raw GCM data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openpyxl with formatting and headers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Portfolio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7A"/>
                </a:solidFill>
                <a:latin typeface="Calibri Light"/>
              </a:defRPr>
            </a:pPr>
            <a:r>
              <a:t>Batch processing optimized for large portfolios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0800" cy="210312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Performance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Each GeoTIFF opened once, all N assets sampled in single pass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Historical: 9 raster opens for any portfolio size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Scenarios: 9 RPs × 5 GCMs × 2 RCPs = 90 opens (not N × 90)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Damage functions cached per asset type (5 max)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CSV import with validation and type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0800" cy="2103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Included test portfolios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portfolio_europe_100.csv — 100 riverine assets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20 countries, 46 cities, 353M€ total value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portfolio_coastal_europe_100.csv — 100 coastal assets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20 countries, 43 port cities, 450M€ total value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Mix: residential, commercial, industrial, transport, agriculture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0800" cy="155448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Output columns per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ead_historical, ead_pct_historical, max_depth_m  —  baseline EAD and exposure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ead_rcp4p5_median / min / max  —  RCP 4.5 ensemble statistics (riverine)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ead_rcp8p5_median / min / max  —  RCP 8.5 ensemble statistics (riverine)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ead_{scenario}_{subsidence}  —  per-configuration EAD (coastal)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64240" cy="38100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1764792"/>
            <a:ext cx="320040" cy="320040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NOW  —  Q1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1031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50800" cy="301752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Flood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15544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Riverine + coastal modules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Single asset + portfolio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Word/Excel reports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WRI Aqueduct + JRC Huizinga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1764792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NEXT  —  Q2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377440"/>
            <a:ext cx="21031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34640" y="2514600"/>
            <a:ext cx="50800" cy="3017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54680" y="2560320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Heat 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926080"/>
            <a:ext cx="15544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ERA5-Land / Copernicus CDS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Extreme heat days (&gt;35°C)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Cooling Degree Days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SSP scenarios (CMIP6)</a:t>
            </a:r>
          </a:p>
        </p:txBody>
      </p:sp>
      <p:sp>
        <p:nvSpPr>
          <p:cNvPr id="21" name="Oval 20"/>
          <p:cNvSpPr/>
          <p:nvPr/>
        </p:nvSpPr>
        <p:spPr>
          <a:xfrm>
            <a:off x="5852159" y="1764792"/>
            <a:ext cx="320040" cy="320040"/>
          </a:xfrm>
          <a:prstGeom prst="ellipse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Q3  —  Q3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377440"/>
            <a:ext cx="21031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20640" y="2514600"/>
            <a:ext cx="50800" cy="301752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0679" y="2560320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Drought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2926080"/>
            <a:ext cx="15544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WRI Aqueduct Water Risk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Baseline water stress / SPI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Agriculture yield impact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RCP 4.5/8.5 projections</a:t>
            </a:r>
          </a:p>
        </p:txBody>
      </p:sp>
      <p:sp>
        <p:nvSpPr>
          <p:cNvPr id="27" name="Oval 26"/>
          <p:cNvSpPr/>
          <p:nvPr/>
        </p:nvSpPr>
        <p:spPr>
          <a:xfrm>
            <a:off x="8138160" y="1764792"/>
            <a:ext cx="320040" cy="320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Q4  —  Q4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377440"/>
            <a:ext cx="21031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06640" y="2514600"/>
            <a:ext cx="50800" cy="3017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2560320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Calibri"/>
              </a:defRPr>
            </a:pPr>
            <a:r>
              <a:t>Wildfire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926080"/>
            <a:ext cx="15544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NASA FIRMS + JRC EFFIS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Fire Weather Index (FWI)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WUI proximity scoring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CMIP6 FWI projections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0" y="1764792"/>
            <a:ext cx="320040" cy="320040"/>
          </a:xfrm>
          <a:prstGeom prst="ellipse">
            <a:avLst/>
          </a:prstGeom>
          <a:solidFill>
            <a:srgbClr val="121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2027  —  2027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2377440"/>
            <a:ext cx="21031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92640" y="2514600"/>
            <a:ext cx="50800" cy="3017520"/>
          </a:xfrm>
          <a:prstGeom prst="rect">
            <a:avLst/>
          </a:prstGeom>
          <a:solidFill>
            <a:srgbClr val="121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2560320"/>
            <a:ext cx="1554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1280"/>
                </a:solidFill>
                <a:latin typeface="Calibri"/>
              </a:defRPr>
            </a:pPr>
            <a:r>
              <a:t>Financial &amp;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926080"/>
            <a:ext cx="15544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Climate VaR / CVaR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FastAPI + PostGIS backend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Multi-peril aggregation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TCFD/CSRD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Future Perils — Technical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0800" cy="4297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🌡  Heat 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Source: ERA5-Land (ECMWF)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Resolution: ~9km, hourly → daily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Metrics: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Days &gt;35°C / &gt;40°C per year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Cooling Degree Days (CDD)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UTCI (thermal comfort)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Impact functions: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Labour productivity (Kjellstrom)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Excess energy demand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Ref: Copernicus CDS, free API access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Ref: Kjellstrom et al. (2018) Lancet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50800" cy="429768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🏜  Drought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92024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Source: WRI Aqueduct Water Risk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Resolution: basin-level, global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Metrics: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Baseline Water Stress (BWS)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Seasonal Variability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Groundwater table decline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Impact functions: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Agriculture: FAO yield models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Industry: water cost multiplier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Ref: Hofste et al. (2019) WRI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Ref: GRACE-FO satellite gravity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50800" cy="4297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Calibri"/>
              </a:defRPr>
            </a:pPr>
            <a:r>
              <a:t>🔥  Wildfire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2926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Source: NASA FIRMS (MODIS/VIIRS)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Source: JRC EFFIS / GWIS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Resolution: 375m active fires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Metrics: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Historical burn frequency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Fire Weather Index (FWI)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WUI interface distance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Impact functions: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Structure loss probability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• Based on CAL FIRE data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Ref: ISIMIP FWI projections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From Physical Risk to Financial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0800" cy="246888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Portfolio Risk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926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Climate VaR (1-in-100 year loss)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CVaR / Expected Shortfall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OEP/AEP exceedance curves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NPV of future losses (adjustable rate)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Climate risk premium (%/yr)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Reinsurance-grade loss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50800" cy="2468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Multi-Peril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920240"/>
            <a:ext cx="2926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Composite score: flood + heat + drought + fire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Peril correlation matrix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Diversification benefit at portfolio level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Conditional dependence modeling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Marginal risk contribution per asset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Risk-adjusted returns (Sharpe-like)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50800" cy="246888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Regulatory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2926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TCFD: governance, strategy, risk mgmt, metrics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CSRD / ESRS E1: climate change adaptation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EU Taxonomy: DNSH flood criteria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ECB climate stress test framework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Pillar III climate risk disclosures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Audit-ready: full methodology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Temporal risk trajectories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Not just 2050 — compute EAD at 2030, 2040, 2050, 2060, 2080 to build a full risk trajectory.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Enables NPV calculation with discount rates, break-even analysis for adaptation investments,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and time-dependent risk budgeting for portfolio rebalancing.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Technology &amp; API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0800" cy="402336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25FF"/>
                </a:solidFill>
                <a:latin typeface="Calibri"/>
              </a:defRPr>
            </a:pPr>
            <a:r>
              <a:t>Current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Python 3.10+ package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NumPy, SciPy, pandas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rasterio (GDAL) for GeoTIFF I/O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matplotlib for all visualizations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openpyxl + python-docx for reports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pytest: 22 tests, CI-ready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pip install -e . (editable dev)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Cloud-Optimized GeoTIFF streaming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MIT License on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50800" cy="402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Planned: FastAPI + PostGIS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92024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FastAPI async REST backend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PostGIS: raster2pgsql for GeoTIFFs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Endpoint: /api/v1/flood/risk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  ?lon=4.47&amp;lat=51.95&amp;scenario=rcp85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Batch: POST /api/v1/portfolio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Response: JSON with EAD, depths, damage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Async task queue for large portfolios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Docker + docker-compose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OpenAPI docs auto-generated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4747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50800" cy="402336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554480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7A"/>
                </a:solidFill>
                <a:latin typeface="Calibri"/>
              </a:defRPr>
            </a:pPr>
            <a:r>
              <a:t>Future: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920240"/>
            <a:ext cx="2926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Cloud deployment (AWS / GCP)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Web dashboard (React + Mapbox GL)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User authentication + API keys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Webhook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Multi-tenant SaaS option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Scheduled portfolio monitoring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Alert system: risk threshold breach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PDF report generation API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alibri Light"/>
              </a:defRPr>
            </a:pPr>
            <a:r>
              <a:t>Enterprise SSO + RBAC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25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References &amp; 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64240" cy="9525"/>
          </a:xfrm>
          <a:prstGeom prst="rect">
            <a:avLst/>
          </a:prstGeom>
          <a:solidFill>
            <a:srgbClr val="A8A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46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open-climate-risk  ·  MIT License  ·  github.com/open-climate-risk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Ward, P.J. et al. (2020). Aqueduct Floods Methodology. Technical Note. WRI, Washington D.C.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Winsemius, H.C. et al. (2016). Global drivers of future river flood risk. Nature Climate Change, 6, 381–385. doi:10.1038/nclimate2893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40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Muis, S. et al. (2016). A global reanalysis of storm surges and extreme sea levels. Nature Communications, 7, 11969. doi:10.1038/ncomms11969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79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977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Huizinga, J., de Moel, H. &amp; Szewczyk, W. (2017). Global flood depth-damage functions. EUR 28552 EN, JRC Technical Report. doi:10.2760/16510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186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Aznar-Siguan, G. &amp; Bresch, D.N. (2019). CLIMADA v1: a global weather and climate risk assessment platform. GMD, 12, 3085–3097. doi:10.5194/gmd-12-3085-2019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Grossi, P. &amp; Kunreuther, H. (2005). Catastrophe Modeling: A New Approach to Managing Risk. Springer. ISBN 978-0-387-23082-8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96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Kjellstrom, T. et al. (2018). Heat, Human Performance, and Occupational Health. Annual Review of Public Health, 39, 97–117.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354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Hofste, R.W. et al. (2019). Aqueduct 3.0: Updated Decision-Relevant Global Water Risk Indicators. WRI Technical Note.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743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7433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Hersbach, H. et al. (2020). The ERA5 global reanalysis. Q.J.R. Meteorol. Soc., 146, 1999–2049. doi:10.1002/qj.3803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13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132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IPCC (2021). Climate Change 2021: The Physical Science Basis. AR6 WG1. Cambridge University Press.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4000" b="1">
                <a:solidFill>
                  <a:srgbClr val="18181B"/>
                </a:solidFill>
                <a:latin typeface="Calibri"/>
              </a:defRPr>
            </a:pPr>
            <a:r>
              <a:t>Open Climate</a:t>
            </a:r>
          </a:p>
          <a:p>
            <a:pPr algn="l">
              <a:spcAft>
                <a:spcPts val="200"/>
              </a:spcAft>
              <a:defRPr sz="4000" b="1">
                <a:solidFill>
                  <a:srgbClr val="18181B"/>
                </a:solidFill>
                <a:latin typeface="Calibri"/>
              </a:defRPr>
            </a:pPr>
            <a:r>
              <a:t>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6E6E7A"/>
                </a:solidFill>
                <a:latin typeface="Calibri Light"/>
              </a:defRPr>
            </a:pPr>
            <a:r>
              <a:t>Open-source climate risk analytics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6E6E7A"/>
                </a:solidFill>
                <a:latin typeface="Calibri Light"/>
              </a:defRPr>
            </a:pPr>
            <a:r>
              <a:t>for assets and portfolios.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github.com/open-climate-risk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7A"/>
                </a:solidFill>
                <a:latin typeface="Calibri Light"/>
              </a:defRPr>
            </a:pPr>
            <a:r>
              <a:t>contact@open-climate-risk.org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MIT License  ·  Python 3.10+  ·  pip install open-climate-risk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Flood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Heat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Drought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Wildfire</a:t>
            </a:r>
          </a:p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6D6FF"/>
                </a:solidFill>
                <a:latin typeface="Calibri Light"/>
              </a:defRPr>
            </a:pPr>
            <a:r>
              <a:t>From hazard to decision.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D6D6FF"/>
                </a:solidFill>
                <a:latin typeface="Calibri Light"/>
              </a:defRPr>
            </a:pPr>
            <a:r>
              <a:t>Open data. Open code. Open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2877</Words>
  <Application>Microsoft Macintosh PowerPoint</Application>
  <PresentationFormat>Grand écran</PresentationFormat>
  <Paragraphs>405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Alexandre Woltersdorf</cp:lastModifiedBy>
  <cp:revision>1</cp:revision>
  <dcterms:created xsi:type="dcterms:W3CDTF">2013-01-27T09:14:16Z</dcterms:created>
  <dcterms:modified xsi:type="dcterms:W3CDTF">2026-03-15T14:20:37Z</dcterms:modified>
  <cp:category/>
</cp:coreProperties>
</file>